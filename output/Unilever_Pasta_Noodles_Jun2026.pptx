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84048"/>
            <a:ext cx="233172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2148840"/>
            <a:ext cx="58521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Unilever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26080"/>
            <a:ext cx="5852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Pasta &amp; Noodles Category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310128"/>
            <a:ext cx="58521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00B8F0"/>
                </a:solidFill>
                <a:latin typeface="Calibri"/>
              </a:rPr>
              <a:t>South Africa  |  12 months to June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989320"/>
            <a:ext cx="5029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88C040"/>
                </a:solidFill>
                <a:latin typeface="Calibri"/>
              </a:rPr>
              <a:t>Updated: 18/08/2026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0528"/>
            <a:ext cx="50292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 SMOLLAN COMPANY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genda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256032"/>
            <a:ext cx="1965960" cy="585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005840"/>
            <a:ext cx="69494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AGENDA -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89888"/>
            <a:ext cx="6949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Key business questions from the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37360"/>
            <a:ext cx="69494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D6EEF8"/>
                </a:solidFill>
                <a:latin typeface="Calibri"/>
              </a:rPr>
              <a:t>Primary analysis: 12 months Jul 25–Jun 26  ·  latest month Jun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7040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01  —  Category growth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D6EEF8"/>
                </a:solidFill>
                <a:latin typeface="Calibri"/>
              </a:rPr>
              <a:t>Where is the Pasta value / volume opportunity?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02  —  Key players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D6EEF8"/>
                </a:solidFill>
                <a:latin typeface="Calibri"/>
              </a:rPr>
              <a:t>Who plays in Pasta and Noodles, and who is winning or losing?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03  —  Pack &amp; price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D6EEF8"/>
                </a:solidFill>
                <a:latin typeface="Calibri"/>
              </a:rPr>
              <a:t>What is the Noodles price architecture?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04  —  Unilever position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D6EEF8"/>
                </a:solidFill>
                <a:latin typeface="Calibri"/>
              </a:rPr>
              <a:t>Where do Knorr Pasta Pots sit versus competing SKUs?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05  —  Commercial action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D6EEF8"/>
                </a:solidFill>
                <a:latin typeface="Calibri"/>
              </a:rPr>
              <a:t>What should Unilever Protect, Watch and Test?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0528"/>
            <a:ext cx="50292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 SMOLLAN COMPANY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6304"/>
            <a:ext cx="1691640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03120" y="164592"/>
            <a:ext cx="97840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Pasta category - Key market insights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" y="713232"/>
            <a:ext cx="1166774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786384"/>
            <a:ext cx="1141171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Pasta is a R3.3bn category growing +5.2% in value with volume slightly down. Noodles now contribute 64% of value and are the engine of growth.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6601968"/>
            <a:ext cx="4114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>
                <a:solidFill>
                  <a:srgbClr val="6A7A86"/>
                </a:solidFill>
                <a:latin typeface="Calibri"/>
              </a:rPr>
              <a:t>A SMOLLAN COMPANY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6601968"/>
            <a:ext cx="699516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6A7A86"/>
                </a:solidFill>
                <a:latin typeface="Calibri"/>
              </a:rPr>
              <a:t>EMPOWERING RETAIL PRECISION WITH DATA, SOFTWARE &amp; AI   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" y="1499616"/>
            <a:ext cx="5742432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499616"/>
            <a:ext cx="5742432" cy="329184"/>
          </a:xfrm>
          <a:prstGeom prst="rect">
            <a:avLst/>
          </a:prstGeom>
          <a:solidFill>
            <a:srgbClr val="003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536192"/>
            <a:ext cx="555955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Category growth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901952"/>
            <a:ext cx="5486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003058"/>
                </a:solidFill>
                <a:latin typeface="Calibri"/>
              </a:rPr>
              <a:t>R3.3bn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286000"/>
            <a:ext cx="54864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12-month value +5.2% vs YA. Volume -0.7%. June 2026 R337.1m, +7.7% vs Jun 25. Growth is price/mix, not more tonnes.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499616"/>
            <a:ext cx="5779008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499616"/>
            <a:ext cx="5779008" cy="329184"/>
          </a:xfrm>
          <a:prstGeom prst="rect">
            <a:avLst/>
          </a:prstGeom>
          <a:solidFill>
            <a:srgbClr val="003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4496" y="1536192"/>
            <a:ext cx="559612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Noodles concentration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4" y="1901952"/>
            <a:ext cx="5522976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003058"/>
                </a:solidFill>
                <a:latin typeface="Calibri"/>
              </a:rPr>
              <a:t>64%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4" y="2286000"/>
            <a:ext cx="3904489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Noodles is 64.4% of Pasta value, up 1.8pp vs year ago. Macaroni 21% and spaghetti 13% are dry pasta. Unilever is only in Noodles.</a:t>
            </a:r>
          </a:p>
        </p:txBody>
      </p:sp>
      <p:pic>
        <p:nvPicPr>
          <p:cNvPr id="19" name="Picture 18" descr="sm_noodles_sh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416" y="1938528"/>
            <a:ext cx="1572768" cy="157276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256032" y="3950208"/>
            <a:ext cx="5742432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032" y="3950208"/>
            <a:ext cx="5742432" cy="329184"/>
          </a:xfrm>
          <a:prstGeom prst="rect">
            <a:avLst/>
          </a:prstGeom>
          <a:solidFill>
            <a:srgbClr val="003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986784"/>
            <a:ext cx="555955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Who is winning / losing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4352544"/>
            <a:ext cx="5486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003058"/>
                </a:solidFill>
                <a:latin typeface="Calibri"/>
              </a:rPr>
              <a:t>Kellogg's +2.1pp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4736592"/>
            <a:ext cx="54864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Kellogg's 29% of Pasta (+2.1pp) and Indomie +1.4pp. Nestlé −2.7pp, Mr Pasta −2.0pp, Tiger −1.5pp. Tiger leads dry pasta; Kellogg's/Nestlé lead because Noodles is most of the value.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4768" y="3950208"/>
            <a:ext cx="5779008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3950208"/>
            <a:ext cx="5779008" cy="329184"/>
          </a:xfrm>
          <a:prstGeom prst="rect">
            <a:avLst/>
          </a:prstGeom>
          <a:solidFill>
            <a:srgbClr val="003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3986784"/>
            <a:ext cx="559612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Price architecture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4" y="4352544"/>
            <a:ext cx="5522976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003058"/>
                </a:solidFill>
                <a:latin typeface="Calibri"/>
              </a:rPr>
              <a:t>R58/kg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2784" y="4736592"/>
            <a:ext cx="552297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Category average R58/kg. Noodles R96/kg. Dry pasta (macaroni/spaghetti) ~R32–35/kg. Two different businesses sit inside one Pasta file.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6304"/>
            <a:ext cx="1691640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03120" y="164592"/>
            <a:ext cx="97840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Noodles - Who plays, who is winning, what price point?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" y="713232"/>
            <a:ext cx="1166774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786384"/>
            <a:ext cx="1141171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Kellogg's is taking share from Maggi. The mass market is a R5–8 sachet. Knorr Pasta Pots entered in June at ~R49 — a different occasion, not a sachet competitor.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6601968"/>
            <a:ext cx="4114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>
                <a:solidFill>
                  <a:srgbClr val="6A7A86"/>
                </a:solidFill>
                <a:latin typeface="Calibri"/>
              </a:rPr>
              <a:t>A SMOLLAN COMPANY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6601968"/>
            <a:ext cx="699516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6A7A86"/>
                </a:solidFill>
                <a:latin typeface="Calibri"/>
              </a:rPr>
              <a:t>EMPOWERING RETAIL PRECISION WITH DATA, SOFTWARE &amp; AI   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1481328"/>
            <a:ext cx="56692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003058"/>
                </a:solidFill>
                <a:latin typeface="Calibri"/>
              </a:rPr>
              <a:t>12-month noodles value share</a:t>
            </a:r>
          </a:p>
        </p:txBody>
      </p:sp>
      <p:pic>
        <p:nvPicPr>
          <p:cNvPr id="10" name="Picture 9" descr="sm_bra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719072"/>
            <a:ext cx="5715000" cy="2240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26480" y="1481328"/>
            <a:ext cx="57607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003058"/>
                </a:solidFill>
                <a:latin typeface="Calibri"/>
              </a:rPr>
              <a:t>Competitive scorecard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26480" y="1737360"/>
          <a:ext cx="577900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777240"/>
                <a:gridCol w="868680"/>
                <a:gridCol w="868680"/>
                <a:gridCol w="960120"/>
                <a:gridCol w="1069848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Brand</a:t>
                      </a:r>
                    </a:p>
                  </a:txBody>
                  <a:tcPr>
                    <a:solidFill>
                      <a:srgbClr val="00305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12m</a:t>
                      </a:r>
                    </a:p>
                  </a:txBody>
                  <a:tcPr>
                    <a:solidFill>
                      <a:srgbClr val="00305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Jun 26</a:t>
                      </a:r>
                    </a:p>
                  </a:txBody>
                  <a:tcPr>
                    <a:solidFill>
                      <a:srgbClr val="00305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YA</a:t>
                      </a:r>
                    </a:p>
                  </a:txBody>
                  <a:tcPr>
                    <a:solidFill>
                      <a:srgbClr val="00305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00305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R/kg</a:t>
                      </a:r>
                    </a:p>
                  </a:txBody>
                  <a:tcPr>
                    <a:solidFill>
                      <a:srgbClr val="00305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Kellogg's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45.6%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44.3%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+2.0pp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+13.1%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R87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Maggi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-5.1pp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Indomie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6.9%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7.8%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+2.1pp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+55.7%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R99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Roka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-0.4pp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Samyang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+1.8pp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+122.3%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R302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Eezee/Joy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+2.0pp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+217.1%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R356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Mr Pasta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-2.3pp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-50.7%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R147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Knorr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7A4D"/>
                          </a:solidFill>
                          <a:latin typeface="Calibri"/>
                        </a:rPr>
                        <a:t>+0.1pp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R790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292608" y="4041648"/>
            <a:ext cx="5669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003058"/>
                </a:solidFill>
                <a:latin typeface="Calibri"/>
              </a:rPr>
              <a:t>Price ladder — typical unit pack</a:t>
            </a:r>
          </a:p>
        </p:txBody>
      </p:sp>
      <p:pic>
        <p:nvPicPr>
          <p:cNvPr id="14" name="Picture 13" descr="sm_pr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42816"/>
            <a:ext cx="5806440" cy="21488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26480" y="4160520"/>
            <a:ext cx="5779008" cy="22677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4160520"/>
            <a:ext cx="5779008" cy="310896"/>
          </a:xfrm>
          <a:prstGeom prst="rect">
            <a:avLst/>
          </a:prstGeom>
          <a:solidFill>
            <a:srgbClr val="0030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4496" y="4187952"/>
            <a:ext cx="5486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Unilever competing SKUs — June 2026 only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236208" y="4535424"/>
          <a:ext cx="5559551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868680"/>
                <a:gridCol w="731520"/>
                <a:gridCol w="960120"/>
                <a:gridCol w="1124712"/>
              </a:tblGrid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SKU</a:t>
                      </a:r>
                    </a:p>
                  </a:txBody>
                  <a:tcPr>
                    <a:solidFill>
                      <a:srgbClr val="00305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00305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>
                    <a:solidFill>
                      <a:srgbClr val="00305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R/pot</a:t>
                      </a:r>
                    </a:p>
                  </a:txBody>
                  <a:tcPr>
                    <a:solidFill>
                      <a:srgbClr val="00305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R/kg</a:t>
                      </a:r>
                    </a:p>
                  </a:txBody>
                  <a:tcPr>
                    <a:solidFill>
                      <a:srgbClr val="003058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Carbonara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R603k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49%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R49.05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R779/kg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Tomato &amp; Mozzarella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R368k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R49.22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R781/kg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Mushroom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R269k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R49.08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R832/kg</a:t>
                      </a:r>
                    </a:p>
                  </a:txBody>
                  <a:tcPr>
                    <a:solidFill>
                      <a:srgbClr val="E6F1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6304"/>
            <a:ext cx="1691640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03120" y="164592"/>
            <a:ext cx="97840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Noodles - How Unilever should read this category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" y="713232"/>
            <a:ext cx="1166774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786384"/>
            <a:ext cx="1141171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Knorr Pasta Pots are a R1.24m June entry (0.56% of Noodles). They do not compete in the R6 sachet game that is 86% of noodles value. Treat them as a cup/meal occasion and keep the three SKUs from fragmenting.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6601968"/>
            <a:ext cx="4114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>
                <a:solidFill>
                  <a:srgbClr val="6A7A86"/>
                </a:solidFill>
                <a:latin typeface="Calibri"/>
              </a:rPr>
              <a:t>A SMOLLAN COMPANY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6601968"/>
            <a:ext cx="699516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>
                <a:solidFill>
                  <a:srgbClr val="6A7A86"/>
                </a:solidFill>
                <a:latin typeface="Calibri"/>
              </a:rPr>
              <a:t>EMPOWERING RETAIL PRECISION WITH DATA, SOFTWARE &amp; AI   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" y="1481328"/>
            <a:ext cx="2852928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54480"/>
            <a:ext cx="2651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8C0"/>
                </a:solidFill>
                <a:latin typeface="Calibri"/>
              </a:rPr>
              <a:t>Protect the 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029968"/>
            <a:ext cx="26517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03058"/>
                </a:solidFill>
                <a:latin typeface="Calibri"/>
              </a:rPr>
              <a:t>Why?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49424"/>
            <a:ext cx="2651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 Noodles is the Pasta category (64% of value, +8.2%).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 Kellogg's 46% and Maggi 29% set the competitive frame.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 Dry pasta is Tiger / private label at R32–35/kg — Unilever is absent.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4828032"/>
            <a:ext cx="2670048" cy="1444752"/>
          </a:xfrm>
          <a:prstGeom prst="roundRect">
            <a:avLst>
              <a:gd name="adj" fmla="val 8000"/>
            </a:avLst>
          </a:prstGeom>
          <a:solidFill>
            <a:srgbClr val="D6E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" y="4882896"/>
            <a:ext cx="2505456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03058"/>
                </a:solidFill>
                <a:latin typeface="Calibri"/>
              </a:rPr>
              <a:t>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5084064"/>
            <a:ext cx="2505456" cy="11155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Do not brief Pasta Pots as a Maggi 2-minute sachet competitor.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36976" y="1481328"/>
            <a:ext cx="2852928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6704" y="1554480"/>
            <a:ext cx="2651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8C0"/>
                </a:solidFill>
                <a:latin typeface="Calibri"/>
              </a:rPr>
              <a:t>Watch Maggi's loss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6704" y="2029968"/>
            <a:ext cx="26517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03058"/>
                </a:solidFill>
                <a:latin typeface="Calibri"/>
              </a:rPr>
              <a:t>Why?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46704" y="2249424"/>
            <a:ext cx="2651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 Maggi −5.1pp over 12 months; Kellogg's +2.0pp.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 Indomie +2.1pp and Samyang +1.8pp are the other gainers.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 Mr Pasta −2.3pp — value/mid is under pressure.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28416" y="4828032"/>
            <a:ext cx="2670048" cy="1444752"/>
          </a:xfrm>
          <a:prstGeom prst="roundRect">
            <a:avLst>
              <a:gd name="adj" fmla="val 8000"/>
            </a:avLst>
          </a:prstGeom>
          <a:solidFill>
            <a:srgbClr val="D6E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9856" y="4882896"/>
            <a:ext cx="2505456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03058"/>
                </a:solidFill>
                <a:latin typeface="Calibri"/>
              </a:rPr>
              <a:t>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19856" y="5084064"/>
            <a:ext cx="2505456" cy="11155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Use Maggi's share loss as the main competitive opening to watch, not to copy on price.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481328"/>
            <a:ext cx="2852928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7648" y="1554480"/>
            <a:ext cx="2651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C45C26"/>
                </a:solidFill>
                <a:latin typeface="Calibri"/>
              </a:rPr>
              <a:t>Price architecture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7648" y="2029968"/>
            <a:ext cx="26517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03058"/>
                </a:solidFill>
                <a:latin typeface="Calibri"/>
              </a:rPr>
              <a:t>Why?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7648" y="2249424"/>
            <a:ext cx="2651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 Roka ~R5.88  ·  Kellogg's ~R6.09  ·  Maggi ~R6.79.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 Indomie ~R7.90. Samyang ~R39 (ramen/cup).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 Knorr Pasta Pots ~R49 / ~R790/kg — ~8× sachet.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4828032"/>
            <a:ext cx="2670048" cy="1444752"/>
          </a:xfrm>
          <a:prstGeom prst="roundRect">
            <a:avLst>
              <a:gd name="adj" fmla="val 8000"/>
            </a:avLst>
          </a:prstGeom>
          <a:solidFill>
            <a:srgbClr val="D6E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882896"/>
            <a:ext cx="2505456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03058"/>
                </a:solidFill>
                <a:latin typeface="Calibri"/>
              </a:rPr>
              <a:t>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084064"/>
            <a:ext cx="2505456" cy="11155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Hold ~R49. Promo into the R6 band would destroy the proposition.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98864" y="1481328"/>
            <a:ext cx="2852928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08592" y="1554480"/>
            <a:ext cx="2651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8C0"/>
                </a:solidFill>
                <a:latin typeface="Calibri"/>
              </a:rPr>
              <a:t>Test the 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08592" y="2029968"/>
            <a:ext cx="26517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03058"/>
                </a:solidFill>
                <a:latin typeface="Calibri"/>
              </a:rPr>
              <a:t>Why?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08592" y="2249424"/>
            <a:ext cx="2651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 Carbonara is 49% of the line; Mushroom is the smallest.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 Three SKUs at one price compete with each other first.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•  June only — no 12-month Unilever trend yet.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90304" y="4828032"/>
            <a:ext cx="2670048" cy="1444752"/>
          </a:xfrm>
          <a:prstGeom prst="roundRect">
            <a:avLst>
              <a:gd name="adj" fmla="val 8000"/>
            </a:avLst>
          </a:prstGeom>
          <a:solidFill>
            <a:srgbClr val="D9EF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81744" y="4882896"/>
            <a:ext cx="2505456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03058"/>
                </a:solidFill>
                <a:latin typeface="Calibri"/>
              </a:rPr>
              <a:t>Action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1744" y="5084064"/>
            <a:ext cx="2505456" cy="11155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Keep distribution and visibility on Carbonara; measure incrementality vs cannibalisation across the three pots.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anks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256032"/>
            <a:ext cx="1874519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37960" y="2606040"/>
            <a:ext cx="51206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5" name="Rectangle 4"/>
          <p:cNvSpPr/>
          <p:nvPr/>
        </p:nvSpPr>
        <p:spPr>
          <a:xfrm>
            <a:off x="6537960" y="3273552"/>
            <a:ext cx="2560320" cy="27432"/>
          </a:xfrm>
          <a:prstGeom prst="rect">
            <a:avLst/>
          </a:prstGeom>
          <a:solidFill>
            <a:srgbClr val="7A9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7960" y="3401568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88C040"/>
                </a:solidFill>
                <a:latin typeface="Calibri"/>
              </a:rPr>
              <a:t>Joseph Hlongwane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50292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 SMOLLAN COMPANY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