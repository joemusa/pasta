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Pasta June 2026 value R1,239,227; volume 1,568.0 kg; estimated 25,236 pots. Price is value/volume, i.e. R/kg. Pack price = R/kg × pack weight.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present Chicken Noodle soup as the Noodles category. Instant noodle cup rows: 4 months, all zero. Chicken Noodle soup value Mar–Jun: R0.66m → R1.01m → R1.29m → R2.12m.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analyst / Nielsen owner for a category extract, not a Unilever brand extract. Same 12mm monthly grouping is fine if all manufacturers are included.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Pasta: Unilever snapshot (June 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6E3"/>
                </a:solidFill>
                <a:latin typeface="Calibri"/>
              </a:rPr>
              <a:t>Knorr Pasta Pots only  ·  No competitor manufacturers in this file  ·  Pasta does not appear in Jul 2025–May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2025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9D6E3"/>
                </a:solidFill>
                <a:latin typeface="Calibri"/>
              </a:rPr>
              <a:t>Source: Monthly Time Groupings Export, South Africa  ·  Period in file: Jul 2025–Jun 2026  ·  Measures: 12mm CY Value, Volume, Ave Price (Value/Volume)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24128"/>
            <a:ext cx="2788920" cy="896112"/>
          </a:xfrm>
          <a:prstGeom prst="rect">
            <a:avLst/>
          </a:prstGeom>
          <a:solidFill>
            <a:srgbClr val="F4F6F8"/>
          </a:solidFill>
          <a:ln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024128"/>
            <a:ext cx="64008" cy="896112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097280"/>
            <a:ext cx="2587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Calibri"/>
              </a:rPr>
              <a:t>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1298448"/>
            <a:ext cx="25877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2545"/>
                </a:solidFill>
                <a:latin typeface="Calibri"/>
              </a:rPr>
              <a:t>R1.24m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627632"/>
            <a:ext cx="2587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6B73"/>
                </a:solidFill>
                <a:latin typeface="Calibri"/>
              </a:rPr>
              <a:t>June 2026 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1024128"/>
            <a:ext cx="2788920" cy="896112"/>
          </a:xfrm>
          <a:prstGeom prst="rect">
            <a:avLst/>
          </a:prstGeom>
          <a:solidFill>
            <a:srgbClr val="F4F6F8"/>
          </a:solidFill>
          <a:ln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024128"/>
            <a:ext cx="64008" cy="89611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38144" y="1097280"/>
            <a:ext cx="2587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Calibri"/>
              </a:rPr>
              <a:t>VOLUME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8144" y="1298448"/>
            <a:ext cx="25877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2545"/>
                </a:solidFill>
                <a:latin typeface="Calibri"/>
              </a:rPr>
              <a:t>1.57 tonnes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8144" y="1627632"/>
            <a:ext cx="2587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6B73"/>
                </a:solidFill>
                <a:latin typeface="Calibri"/>
              </a:rPr>
              <a:t>25.2k pots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024128"/>
            <a:ext cx="2788920" cy="896112"/>
          </a:xfrm>
          <a:prstGeom prst="rect">
            <a:avLst/>
          </a:prstGeom>
          <a:solidFill>
            <a:srgbClr val="F4F6F8"/>
          </a:solidFill>
          <a:ln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024128"/>
            <a:ext cx="64008" cy="896112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4" y="1097280"/>
            <a:ext cx="2587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Calibri"/>
              </a:rPr>
              <a:t>PRICE 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4" y="1298448"/>
            <a:ext cx="25877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2545"/>
                </a:solidFill>
                <a:latin typeface="Calibri"/>
              </a:rPr>
              <a:t>R49 / pot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1627632"/>
            <a:ext cx="2587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6B73"/>
                </a:solidFill>
                <a:latin typeface="Calibri"/>
              </a:rPr>
              <a:t>R779–832 / kg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0" y="1024128"/>
            <a:ext cx="2679192" cy="896112"/>
          </a:xfrm>
          <a:prstGeom prst="rect">
            <a:avLst/>
          </a:prstGeom>
          <a:solidFill>
            <a:srgbClr val="F4F6F8"/>
          </a:solidFill>
          <a:ln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024128"/>
            <a:ext cx="64008" cy="896112"/>
          </a:xfrm>
          <a:prstGeom prst="rect">
            <a:avLst/>
          </a:prstGeom>
          <a:solidFill>
            <a:srgbClr val="9B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90304" y="1097280"/>
            <a:ext cx="24780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3"/>
                </a:solidFill>
                <a:latin typeface="Calibri"/>
              </a:rPr>
              <a:t>PLAYERS IN FILE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0304" y="1298448"/>
            <a:ext cx="247802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2545"/>
                </a:solidFill>
                <a:latin typeface="Calibri"/>
              </a:rPr>
              <a:t>Knorr 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4" y="1627632"/>
            <a:ext cx="24780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6B73"/>
                </a:solidFill>
                <a:latin typeface="Calibri"/>
              </a:rPr>
              <a:t>Unilever, 3 SKUs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365760" y="2084831"/>
          <a:ext cx="690372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960120"/>
                <a:gridCol w="822960"/>
                <a:gridCol w="1051560"/>
                <a:gridCol w="960120"/>
                <a:gridCol w="1143000"/>
              </a:tblGrid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SKU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Share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Volume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R/kg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R/pack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Carbonara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R603k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49%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774 kg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R779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R49.05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Tomato &amp; Mozzarella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R368k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471 kg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R781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R49.22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Mushroom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R269k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323 kg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R832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R49.08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pic>
        <p:nvPicPr>
          <p:cNvPr id="28" name="Picture 27" descr="pasta_sku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2084831"/>
            <a:ext cx="4343400" cy="196596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365760" y="4251960"/>
            <a:ext cx="11457432" cy="2148840"/>
          </a:xfrm>
          <a:prstGeom prst="rect">
            <a:avLst/>
          </a:prstGeom>
          <a:solidFill>
            <a:srgbClr val="F4F6F8"/>
          </a:solidFill>
          <a:ln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352" y="4370832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2545"/>
                </a:solidFill>
                <a:latin typeface="Calibri"/>
              </a:rPr>
              <a:t>What this tells the client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466344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Unilever’s Pasta line in this extract is one range at one price: Knorr Pasta Pots, all ~R49 a pot.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Carbonara is the lead SKU (49% of value). Tomato &amp; Mozzarella 30%. Mushroom 22% and the smallest pack (59g) at the highest R/kg.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There is no 12-month Pasta view here. The SKUs only appear in June 2026, so we cannot say if the line is winning or losing.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Key players and category share cannot be read from this file: every row is Manufacturer = Unilever.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Noodles: this extract cannot answer the category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6E3"/>
                </a:solidFill>
                <a:latin typeface="Calibri"/>
              </a:rPr>
              <a:t>No Noodles category  ·  Instant noodle cups at R0  ·  Only live ‘Noodle’ SKU is a soup sachet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2025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9D6E3"/>
                </a:solidFill>
                <a:latin typeface="Calibri"/>
              </a:rPr>
              <a:t>Source: Monthly Time Groupings Export, South Africa  ·  Period in file: Jul 2025–Jun 2026  ·  Measures: 12mm CY Value, Volume, Ave Price (Value/Volume)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24128"/>
            <a:ext cx="5623560" cy="2331720"/>
          </a:xfrm>
          <a:prstGeom prst="rect">
            <a:avLst/>
          </a:prstGeom>
          <a:solidFill>
            <a:srgbClr val="F4F6F8"/>
          </a:solidFill>
          <a:ln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11556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2545"/>
                </a:solidFill>
                <a:latin typeface="Calibri"/>
              </a:rPr>
              <a:t>What we looked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417320"/>
            <a:ext cx="53035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Categories in file: 21 Unilever categories. Pasta is present. Noodles is not.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Instant Soup: Knorr Cup A Snack Noodle (Smoked Paprika &amp; Mung Bean; Spicy Bean) — listed in Jul, Aug, Mar with R0 / 0 kg.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Regular &amp; Low Price Soup: Knorr Soup Chicken Noodle 45g is the only SKU with ‘Noodle’ in the name and sales.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024128"/>
            <a:ext cx="5650992" cy="2331720"/>
          </a:xfrm>
          <a:prstGeom prst="rect">
            <a:avLst/>
          </a:prstGeom>
          <a:solidFill>
            <a:srgbClr val="F4F6F8"/>
          </a:solidFill>
          <a:ln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115568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B2C2C"/>
                </a:solidFill>
                <a:latin typeface="Calibri"/>
              </a:rPr>
              <a:t>Therefore we cannot say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792" y="1417320"/>
            <a:ext cx="5349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Who the key Noodles players are (Tiger, Rainbow, Maggi, house brands, etc.).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Who is winning or losing share over 12 months.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What the Noodles price ladder looks like, or where Unilever sits on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4747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2545"/>
                </a:solidFill>
                <a:latin typeface="Calibri"/>
              </a:rPr>
              <a:t>Closest live SKU — Knorr Soup Chicken Noodle 45g (soup category, not noodles)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3794760"/>
          <a:ext cx="576072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097280"/>
                <a:gridCol w="1143000"/>
                <a:gridCol w="1051560"/>
                <a:gridCol w="1188720"/>
              </a:tblGrid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Volume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R/kg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R/sachet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Apr 2026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R1,008k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7,870 kg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R128.1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R5.77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Jun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R2,120k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16,149 kg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R131.3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R5.91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Mar 2026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R656k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4,791 kg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R136.9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R6.16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May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R1,295k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9,809 kg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R132.0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R5.94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chicken_noodle_s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794760"/>
            <a:ext cx="5440680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So what, and the extract we still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6E3"/>
                </a:solidFill>
                <a:latin typeface="Calibri"/>
              </a:rPr>
              <a:t>This file is a Unilever portfolio cut, not a Pasta / Noodles category competitive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2025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9D6E3"/>
                </a:solidFill>
                <a:latin typeface="Calibri"/>
              </a:rPr>
              <a:t>Source: Monthly Time Groupings Export, South Africa  ·  Period in file: Jul 2025–Jun 2026  ·  Measures: 12mm CY Value, Volume, Ave Price (Value/Volume)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24128"/>
            <a:ext cx="5623560" cy="5349240"/>
          </a:xfrm>
          <a:prstGeom prst="rect">
            <a:avLst/>
          </a:prstGeom>
          <a:solidFill>
            <a:srgbClr val="F4F6F8"/>
          </a:solidFill>
          <a:ln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1338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2545"/>
                </a:solidFill>
                <a:latin typeface="Calibri"/>
              </a:rPr>
              <a:t>Working conclusions from this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508760"/>
            <a:ext cx="530352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Pasta: Unilever is in-market in June with three Pasta Pots at a single ~R49 price point. Carbonara is the SKU to watch inside that range.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Noodles: Unilever’s instant noodle cups in this file have no sales. They look delisted or not distributed, not competing.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Do not use Chicken Noodle soup as a proxy for the Noodles category. It is a 45g soup sachet at ~R6.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Winning / losing vs competitors cannot be scored. There are no non-Unilever rows.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Price architecture for the category cannot be scored. We only have Unilever’s own R/kg.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024128"/>
            <a:ext cx="5650992" cy="53492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1338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Please pull this instead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5544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Market: South Africa, same source.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Time: monthly, Jul 2025–Jun 2026 (plus June 2026 latest month).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Filter: Category = Pasta and Category = Noodles (or the local subcategory split).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Rows: all manufacturers and brands, not Unilever only.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Columns: month, category, manufacturer, brand, SKU, value, volume, average price, pack size.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Then we can show: category size, key players, 12-month winners/losers, and the price ladder with Unilever SKUs marked.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