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Pasta MAT 3289604029 vs YA 3127415433. Noodles MAT 2117632516. Retailer set as in the extract header (Clicks, Massmart, Spar, Shoprite, PnP, etc.).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Sachet price uses brand R/kg × typical unit grams (Kellogg's 70g, Maggi 68g, Indomie 80g, Roka 85g, Samyang 130g, Knorr 63g). 86% of noodles value is in the R5–8 unit-pack band. Knorr Pasta Pots are not in the file before Jun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Unilever MAT share of noodles is ~0.06% because the SKUs have one month of sales. Do not read June share as a 12-month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91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Pasta category: noodles now run the 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57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6E3"/>
                </a:solidFill>
                <a:latin typeface="Calibri"/>
              </a:rPr>
              <a:t>South Africa  ·  12 months to Jun 26  ·  All manufacturers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62025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Trended Export, South Africa Pasta, multi-retailer  ·  12 months = Jul 25–Jun 26 vs YA Jul 24–Jun 25  ·  Price = value ÷ volume (R/kg)  ·  Latest month = Jun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950976"/>
            <a:ext cx="64008" cy="80467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12-MONTH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R3.3bn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+5.2% vs YA  ·  vol -0.7%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355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950976"/>
            <a:ext cx="64008" cy="80467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JUNE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R337.1m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+7.7% vs Jun 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950976"/>
            <a:ext cx="64008" cy="804672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NOODLES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64% of Pasta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+1.8pp vs YA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5712" y="950976"/>
            <a:ext cx="2706624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25712" y="950976"/>
            <a:ext cx="64008" cy="804672"/>
          </a:xfrm>
          <a:prstGeom prst="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005840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CATEGORY PRICE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1188720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R58/kg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1481328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Noodles R96  ·  dry ~R32–35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184708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Value mix by subcategory (12 months)</a:t>
            </a:r>
          </a:p>
        </p:txBody>
      </p:sp>
      <p:pic>
        <p:nvPicPr>
          <p:cNvPr id="28" name="Picture 27" descr="pasta_subca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2084831"/>
            <a:ext cx="5806440" cy="22402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63640" y="184708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Who plays, who is winning (12-month value)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3640" y="2103120"/>
          <a:ext cx="55778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22960"/>
                <a:gridCol w="868680"/>
                <a:gridCol w="914400"/>
                <a:gridCol w="1005840"/>
              </a:tblGrid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Manufacturer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YA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Kellogg's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29.4%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+2.1pp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R87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Nestlé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-2.7pp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Tiger Brands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13.8%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-1.5pp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-4.8%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Private Label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+0.0pp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Mr Pasta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-2.0pp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Indofood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+1.4pp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+55.7%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Roka (Zhejiang)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4.1%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-0.2pp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+1.5%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R69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47472" y="4498848"/>
            <a:ext cx="11484864" cy="1938528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59028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2545"/>
                </a:solidFill>
                <a:latin typeface="Calibri"/>
              </a:rPr>
              <a:t>Takeaways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46320"/>
            <a:ext cx="111556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Pasta is a R3.29bn category growing +5.2% in value, with volume -0.7% — growth is price/mix, not more tonnes.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Noodles is the engine: 64% of Pasta value (up 1.8pp). Macaroni 21% and spaghetti 13% are the dry-pasta game, led by Tiger Brands and private label at ~R30–35/kg.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Winners: Kellogg's (+2.1pp) and Indomie/Indofood (+1.4pp). Losers: Nestlé/Maggi (−2.7pp), Mr Pasta (−2.0pp), Tiger Brands (−1.5pp).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Unilever is not a Pasta-category player yet. Knorr Pasta Pots appear only in Jun 26, coded in Noodles.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91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Noodles: Kellogg's winning, Maggi losing, Unilever not in the sachet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57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6E3"/>
                </a:solidFill>
                <a:latin typeface="Calibri"/>
              </a:rPr>
              <a:t>Noodles subcategory  ·  12 months to Jun 26 and June 2026  ·  Unilever = Knorr Pasta Pots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62025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Trended Export, South Africa Pasta, multi-retailer  ·  12 months = Jul 25–Jun 26 vs YA Jul 24–Jun 25  ·  Price = value ÷ volume (R/kg)  ·  Latest month = Jun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950976"/>
            <a:ext cx="64008" cy="80467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12-MONTH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R2.1bn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+8.2%  ·  vol +5.0%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355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950976"/>
            <a:ext cx="64008" cy="80467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JUNE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R221.5m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+10.0% vs Jun 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950976"/>
            <a:ext cx="2834640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950976"/>
            <a:ext cx="64008" cy="804672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00584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PRICE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188720"/>
            <a:ext cx="2633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R96/kg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48132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86% of value is R5–8 a sachet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5712" y="950976"/>
            <a:ext cx="2706624" cy="80467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25712" y="950976"/>
            <a:ext cx="64008" cy="804672"/>
          </a:xfrm>
          <a:prstGeom prst="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005840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UNILEVER (JUN)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1188720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0.56%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1481328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R1.2m  ·  3 Pasta Pots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184708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Key players — 12-month value share and change</a:t>
            </a:r>
          </a:p>
        </p:txBody>
      </p:sp>
      <p:pic>
        <p:nvPicPr>
          <p:cNvPr id="28" name="Picture 27" descr="noodles_brand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048256"/>
            <a:ext cx="5897880" cy="23317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63640" y="1847088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Share, June pulse, price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3640" y="2084831"/>
          <a:ext cx="5577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31520"/>
                <a:gridCol w="822960"/>
                <a:gridCol w="96012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12m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YA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Kellogg's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45.6%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+2.0pp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R87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Maggi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-5.1pp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Indomie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6.9%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7.8%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+2.1pp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+55.7%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R99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Roka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-0.4pp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Samyang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+1.8pp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+122.3%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R302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Eezee/Joy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+217.1%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Mr Pasta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-2.3pp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9B2C2C"/>
                          </a:solidFill>
                          <a:latin typeface="Calibri"/>
                        </a:rPr>
                        <a:t>-50.7%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R147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Knorr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+0.1pp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47472" y="4480560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Price ladder — typical unit pack</a:t>
            </a:r>
          </a:p>
        </p:txBody>
      </p:sp>
      <p:pic>
        <p:nvPicPr>
          <p:cNvPr id="32" name="Picture 31" descr="noodles_pri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4663440"/>
            <a:ext cx="5943600" cy="17830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6263640" y="4645152"/>
            <a:ext cx="5577840" cy="181051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71830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Calibri"/>
              </a:rPr>
              <a:t>Unilever competing SKUs (Jun 26 only)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0" y="4956048"/>
          <a:ext cx="53035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05840"/>
                <a:gridCol w="914400"/>
                <a:gridCol w="12344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R/pot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Carbonara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R603k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R49.05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Tomato &amp; Mozzarella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R368k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Mushroom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R269k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R49.08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91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So what for Unilever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57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6E3"/>
                </a:solidFill>
                <a:latin typeface="Calibri"/>
              </a:rPr>
              <a:t>Pasta Pots are a different product and price tier, not a head-to-head with Maggi or Kellogg's sachets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62025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Trended Export, South Africa Pasta, multi-retailer  ·  12 months = Jul 25–Jun 26 vs YA Jul 24–Jun 25  ·  Price = value ÷ volume (R/kg)  ·  Latest month = Jun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987552"/>
            <a:ext cx="5669280" cy="5413248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What the category is doing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Noodles is the Pasta category. 64% of value, growing faster than dry pasta, and the only segment Unilever is in.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The mass market is a R6 sachet: Kellogg's (~R87/kg) and Maggi (~R100/kg). Roka undercuts at ~R69/kg. That band is ~87% of noodles value.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Kellogg's is taking Maggi's lunch. Maggi −5.1pp over 12 months; Kellogg's +2.0pp. Indomie and Samyang are the other gainers.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Dry pasta is a separate fight (Tiger, private label, Mr Pasta at R30–35/kg). Unilever is absent there.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987552"/>
            <a:ext cx="5632704" cy="541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Where Unilever 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44752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Knorr Pasta Pots launched into the file in June only: R1.2m, 0.56% of Noodles, 0.37% of Pasta.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One range, one price: ~R49 a pot / ~R790/kg — about 8× the mainstream sachet and 8× category noodles R/kg.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Carbonara is the lead SKU (49%). This is a cup/meal occasion, closer to Samyang/ramen than to Maggi 2-minute sachets.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The three SKUs compete with each other more than with Kellogg's. Scale is still a rounding error.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Watch: Maggi's share loss (room if Nestlé stumbles on occasion), Indomie (flavour/heat), and whether Pasta Pots can hold R49 without promo.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