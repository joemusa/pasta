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itle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384048" y="384048"/>
            <a:ext cx="2331720" cy="713232"/>
          </a:xfrm>
          <a:prstGeom prst="rect">
            <a:avLst/>
          </a:prstGeom>
        </p:spPr>
      </p:pic>
      <p:sp>
        <p:nvSpPr>
          <p:cNvPr id="4" name="TextBox 3"/>
          <p:cNvSpPr txBox="1"/>
          <p:nvPr/>
        </p:nvSpPr>
        <p:spPr>
          <a:xfrm>
            <a:off x="411480" y="2084831"/>
            <a:ext cx="5943600" cy="731520"/>
          </a:xfrm>
          <a:prstGeom prst="rect">
            <a:avLst/>
          </a:prstGeom>
          <a:noFill/>
        </p:spPr>
        <p:txBody>
          <a:bodyPr wrap="square">
            <a:spAutoFit/>
          </a:bodyPr>
          <a:lstStyle/>
          <a:p>
            <a:pPr algn="l"/>
            <a:r>
              <a:rPr sz="3600" b="1">
                <a:solidFill>
                  <a:srgbClr val="FFFFFF"/>
                </a:solidFill>
                <a:latin typeface="Calibri"/>
              </a:rPr>
              <a:t>Unilever Presentation</a:t>
            </a:r>
          </a:p>
        </p:txBody>
      </p:sp>
      <p:sp>
        <p:nvSpPr>
          <p:cNvPr id="5" name="TextBox 4"/>
          <p:cNvSpPr txBox="1"/>
          <p:nvPr/>
        </p:nvSpPr>
        <p:spPr>
          <a:xfrm>
            <a:off x="411480" y="2834640"/>
            <a:ext cx="5943600" cy="365760"/>
          </a:xfrm>
          <a:prstGeom prst="rect">
            <a:avLst/>
          </a:prstGeom>
          <a:noFill/>
        </p:spPr>
        <p:txBody>
          <a:bodyPr wrap="square">
            <a:spAutoFit/>
          </a:bodyPr>
          <a:lstStyle/>
          <a:p>
            <a:pPr algn="l"/>
            <a:r>
              <a:rPr sz="2000" b="1">
                <a:solidFill>
                  <a:srgbClr val="FFFFFF"/>
                </a:solidFill>
                <a:latin typeface="Calibri"/>
              </a:rPr>
              <a:t>Pasta &amp; Noodles Category Review</a:t>
            </a:r>
          </a:p>
        </p:txBody>
      </p:sp>
      <p:sp>
        <p:nvSpPr>
          <p:cNvPr id="6" name="TextBox 5"/>
          <p:cNvSpPr txBox="1"/>
          <p:nvPr/>
        </p:nvSpPr>
        <p:spPr>
          <a:xfrm>
            <a:off x="411480" y="3218688"/>
            <a:ext cx="5943600" cy="310896"/>
          </a:xfrm>
          <a:prstGeom prst="rect">
            <a:avLst/>
          </a:prstGeom>
          <a:noFill/>
        </p:spPr>
        <p:txBody>
          <a:bodyPr wrap="square">
            <a:spAutoFit/>
          </a:bodyPr>
          <a:lstStyle/>
          <a:p>
            <a:pPr algn="l"/>
            <a:r>
              <a:rPr sz="1600" b="0">
                <a:solidFill>
                  <a:srgbClr val="00B8F0"/>
                </a:solidFill>
                <a:latin typeface="Calibri"/>
              </a:rPr>
              <a:t>South Africa  |  12 months to June 2026</a:t>
            </a:r>
          </a:p>
        </p:txBody>
      </p:sp>
      <p:sp>
        <p:nvSpPr>
          <p:cNvPr id="7" name="TextBox 6"/>
          <p:cNvSpPr txBox="1"/>
          <p:nvPr/>
        </p:nvSpPr>
        <p:spPr>
          <a:xfrm>
            <a:off x="411480" y="5943600"/>
            <a:ext cx="5486400" cy="274320"/>
          </a:xfrm>
          <a:prstGeom prst="rect">
            <a:avLst/>
          </a:prstGeom>
          <a:noFill/>
        </p:spPr>
        <p:txBody>
          <a:bodyPr wrap="square">
            <a:spAutoFit/>
          </a:bodyPr>
          <a:lstStyle/>
          <a:p>
            <a:pPr algn="l"/>
            <a:r>
              <a:rPr sz="1400" b="1">
                <a:solidFill>
                  <a:srgbClr val="88C040"/>
                </a:solidFill>
                <a:latin typeface="Calibri"/>
              </a:rPr>
              <a:t>Updated: 18/08/2026</a:t>
            </a:r>
          </a:p>
        </p:txBody>
      </p:sp>
      <p:sp>
        <p:nvSpPr>
          <p:cNvPr id="8" name="TextBox 7"/>
          <p:cNvSpPr txBox="1"/>
          <p:nvPr/>
        </p:nvSpPr>
        <p:spPr>
          <a:xfrm>
            <a:off x="411480" y="6492240"/>
            <a:ext cx="5486400" cy="219456"/>
          </a:xfrm>
          <a:prstGeom prst="rect">
            <a:avLst/>
          </a:prstGeom>
          <a:noFill/>
        </p:spPr>
        <p:txBody>
          <a:bodyPr wrap="square">
            <a:spAutoFit/>
          </a:bodyPr>
          <a:lstStyle/>
          <a:p>
            <a:pPr algn="l"/>
            <a:r>
              <a:rPr sz="1200" b="0">
                <a:solidFill>
                  <a:srgbClr val="FFFFFF"/>
                </a:solidFill>
                <a:latin typeface="Calibri"/>
              </a:rPr>
              <a:t>A SMOLLAN COMPANY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164592"/>
            <a:ext cx="9509760" cy="420624"/>
          </a:xfrm>
          <a:prstGeom prst="rect">
            <a:avLst/>
          </a:prstGeom>
          <a:noFill/>
        </p:spPr>
        <p:txBody>
          <a:bodyPr wrap="square">
            <a:spAutoFit/>
          </a:bodyPr>
          <a:lstStyle/>
          <a:p>
            <a:pPr algn="l"/>
            <a:r>
              <a:rPr sz="2400" b="1">
                <a:solidFill>
                  <a:srgbClr val="122A4A"/>
                </a:solidFill>
                <a:latin typeface="Calibri"/>
              </a:rPr>
              <a:t>Pasta: 12-month view to June 2026</a:t>
            </a:r>
          </a:p>
        </p:txBody>
      </p:sp>
      <p:sp>
        <p:nvSpPr>
          <p:cNvPr id="6" name="Rectangle 5"/>
          <p:cNvSpPr/>
          <p:nvPr/>
        </p:nvSpPr>
        <p:spPr>
          <a:xfrm>
            <a:off x="347472" y="603504"/>
            <a:ext cx="2011680" cy="54864"/>
          </a:xfrm>
          <a:prstGeom prst="rect">
            <a:avLst/>
          </a:prstGeom>
          <a:solidFill>
            <a:srgbClr val="D0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mollan_logo_content.png"/>
          <p:cNvPicPr>
            <a:picLocks noChangeAspect="1"/>
          </p:cNvPicPr>
          <p:nvPr/>
        </p:nvPicPr>
        <p:blipFill>
          <a:blip r:embed="rId2"/>
          <a:stretch>
            <a:fillRect/>
          </a:stretch>
        </p:blipFill>
        <p:spPr>
          <a:xfrm>
            <a:off x="10104120" y="128016"/>
            <a:ext cx="1783080" cy="384048"/>
          </a:xfrm>
          <a:prstGeom prst="rect">
            <a:avLst/>
          </a:prstGeom>
        </p:spPr>
      </p:pic>
      <p:sp>
        <p:nvSpPr>
          <p:cNvPr id="8" name="Rectangle 7"/>
          <p:cNvSpPr/>
          <p:nvPr/>
        </p:nvSpPr>
        <p:spPr>
          <a:xfrm>
            <a:off x="0" y="6565392"/>
            <a:ext cx="12191695" cy="292608"/>
          </a:xfrm>
          <a:prstGeom prst="rect">
            <a:avLst/>
          </a:prstGeom>
          <a:solidFill>
            <a:srgbClr val="F3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6601968"/>
            <a:ext cx="8412480" cy="201168"/>
          </a:xfrm>
          <a:prstGeom prst="rect">
            <a:avLst/>
          </a:prstGeom>
          <a:noFill/>
        </p:spPr>
        <p:txBody>
          <a:bodyPr wrap="square">
            <a:spAutoFit/>
          </a:bodyPr>
          <a:lstStyle/>
          <a:p>
            <a:pPr algn="l"/>
            <a:r>
              <a:rPr sz="1100" b="0">
                <a:solidFill>
                  <a:srgbClr val="3D4A55"/>
                </a:solidFill>
                <a:latin typeface="Calibri"/>
              </a:rPr>
              <a:t>South Africa Pasta  ·  12 months Jul 25–Jun 26 vs YA  ·  latest month Jun 26  ·  price = value ÷ volume</a:t>
            </a:r>
          </a:p>
        </p:txBody>
      </p:sp>
      <p:sp>
        <p:nvSpPr>
          <p:cNvPr id="10" name="TextBox 9"/>
          <p:cNvSpPr txBox="1"/>
          <p:nvPr/>
        </p:nvSpPr>
        <p:spPr>
          <a:xfrm>
            <a:off x="10424160" y="6601968"/>
            <a:ext cx="1417320" cy="201168"/>
          </a:xfrm>
          <a:prstGeom prst="rect">
            <a:avLst/>
          </a:prstGeom>
          <a:noFill/>
        </p:spPr>
        <p:txBody>
          <a:bodyPr wrap="square">
            <a:spAutoFit/>
          </a:bodyPr>
          <a:lstStyle/>
          <a:p>
            <a:pPr algn="r"/>
            <a:r>
              <a:rPr sz="1100" b="1">
                <a:solidFill>
                  <a:srgbClr val="122A4A"/>
                </a:solidFill>
                <a:latin typeface="Calibri"/>
              </a:rPr>
              <a:t>2 / 5</a:t>
            </a:r>
          </a:p>
        </p:txBody>
      </p:sp>
      <p:sp>
        <p:nvSpPr>
          <p:cNvPr id="11" name="Rectangle 10"/>
          <p:cNvSpPr/>
          <p:nvPr/>
        </p:nvSpPr>
        <p:spPr>
          <a:xfrm>
            <a:off x="347472" y="804672"/>
            <a:ext cx="2834640" cy="987552"/>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804672"/>
            <a:ext cx="82296" cy="987552"/>
          </a:xfrm>
          <a:prstGeom prst="rect">
            <a:avLst/>
          </a:prstGeom>
          <a:solidFill>
            <a:srgbClr val="1F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877824"/>
            <a:ext cx="2578608" cy="219456"/>
          </a:xfrm>
          <a:prstGeom prst="rect">
            <a:avLst/>
          </a:prstGeom>
          <a:noFill/>
        </p:spPr>
        <p:txBody>
          <a:bodyPr wrap="square">
            <a:spAutoFit/>
          </a:bodyPr>
          <a:lstStyle/>
          <a:p>
            <a:pPr algn="l"/>
            <a:r>
              <a:rPr sz="1100" b="1">
                <a:solidFill>
                  <a:srgbClr val="3D4A55"/>
                </a:solidFill>
                <a:latin typeface="Calibri"/>
              </a:rPr>
              <a:t>12-MONTH VALUE</a:t>
            </a:r>
          </a:p>
        </p:txBody>
      </p:sp>
      <p:sp>
        <p:nvSpPr>
          <p:cNvPr id="14" name="TextBox 13"/>
          <p:cNvSpPr txBox="1"/>
          <p:nvPr/>
        </p:nvSpPr>
        <p:spPr>
          <a:xfrm>
            <a:off x="530352" y="1097280"/>
            <a:ext cx="2578608" cy="365760"/>
          </a:xfrm>
          <a:prstGeom prst="rect">
            <a:avLst/>
          </a:prstGeom>
          <a:noFill/>
        </p:spPr>
        <p:txBody>
          <a:bodyPr wrap="square">
            <a:spAutoFit/>
          </a:bodyPr>
          <a:lstStyle/>
          <a:p>
            <a:pPr algn="l"/>
            <a:r>
              <a:rPr sz="2400" b="1">
                <a:solidFill>
                  <a:srgbClr val="122A4A"/>
                </a:solidFill>
                <a:latin typeface="Calibri"/>
              </a:rPr>
              <a:t>R3.3bn</a:t>
            </a:r>
          </a:p>
        </p:txBody>
      </p:sp>
      <p:sp>
        <p:nvSpPr>
          <p:cNvPr id="15" name="TextBox 14"/>
          <p:cNvSpPr txBox="1"/>
          <p:nvPr/>
        </p:nvSpPr>
        <p:spPr>
          <a:xfrm>
            <a:off x="530352" y="1463040"/>
            <a:ext cx="2578608" cy="256032"/>
          </a:xfrm>
          <a:prstGeom prst="rect">
            <a:avLst/>
          </a:prstGeom>
          <a:noFill/>
        </p:spPr>
        <p:txBody>
          <a:bodyPr wrap="square">
            <a:spAutoFit/>
          </a:bodyPr>
          <a:lstStyle/>
          <a:p>
            <a:pPr algn="l"/>
            <a:r>
              <a:rPr sz="1200" b="0">
                <a:solidFill>
                  <a:srgbClr val="111111"/>
                </a:solidFill>
                <a:latin typeface="Calibri"/>
              </a:rPr>
              <a:t>+5.2% value  ·  vol -0.7%</a:t>
            </a:r>
          </a:p>
        </p:txBody>
      </p:sp>
      <p:sp>
        <p:nvSpPr>
          <p:cNvPr id="16" name="Rectangle 15"/>
          <p:cNvSpPr/>
          <p:nvPr/>
        </p:nvSpPr>
        <p:spPr>
          <a:xfrm>
            <a:off x="3273552" y="804672"/>
            <a:ext cx="2834640" cy="987552"/>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73552" y="804672"/>
            <a:ext cx="82296" cy="98755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877824"/>
            <a:ext cx="2578608" cy="219456"/>
          </a:xfrm>
          <a:prstGeom prst="rect">
            <a:avLst/>
          </a:prstGeom>
          <a:noFill/>
        </p:spPr>
        <p:txBody>
          <a:bodyPr wrap="square">
            <a:spAutoFit/>
          </a:bodyPr>
          <a:lstStyle/>
          <a:p>
            <a:pPr algn="l"/>
            <a:r>
              <a:rPr sz="1100" b="1">
                <a:solidFill>
                  <a:srgbClr val="3D4A55"/>
                </a:solidFill>
                <a:latin typeface="Calibri"/>
              </a:rPr>
              <a:t>JUNE 2026</a:t>
            </a:r>
          </a:p>
        </p:txBody>
      </p:sp>
      <p:sp>
        <p:nvSpPr>
          <p:cNvPr id="19" name="TextBox 18"/>
          <p:cNvSpPr txBox="1"/>
          <p:nvPr/>
        </p:nvSpPr>
        <p:spPr>
          <a:xfrm>
            <a:off x="3456432" y="1097280"/>
            <a:ext cx="2578608" cy="365760"/>
          </a:xfrm>
          <a:prstGeom prst="rect">
            <a:avLst/>
          </a:prstGeom>
          <a:noFill/>
        </p:spPr>
        <p:txBody>
          <a:bodyPr wrap="square">
            <a:spAutoFit/>
          </a:bodyPr>
          <a:lstStyle/>
          <a:p>
            <a:pPr algn="l"/>
            <a:r>
              <a:rPr sz="2400" b="1">
                <a:solidFill>
                  <a:srgbClr val="122A4A"/>
                </a:solidFill>
                <a:latin typeface="Calibri"/>
              </a:rPr>
              <a:t>R337.1m</a:t>
            </a:r>
          </a:p>
        </p:txBody>
      </p:sp>
      <p:sp>
        <p:nvSpPr>
          <p:cNvPr id="20" name="TextBox 19"/>
          <p:cNvSpPr txBox="1"/>
          <p:nvPr/>
        </p:nvSpPr>
        <p:spPr>
          <a:xfrm>
            <a:off x="3456432" y="1463040"/>
            <a:ext cx="2578608" cy="256032"/>
          </a:xfrm>
          <a:prstGeom prst="rect">
            <a:avLst/>
          </a:prstGeom>
          <a:noFill/>
        </p:spPr>
        <p:txBody>
          <a:bodyPr wrap="square">
            <a:spAutoFit/>
          </a:bodyPr>
          <a:lstStyle/>
          <a:p>
            <a:pPr algn="l"/>
            <a:r>
              <a:rPr sz="1200" b="0">
                <a:solidFill>
                  <a:srgbClr val="111111"/>
                </a:solidFill>
                <a:latin typeface="Calibri"/>
              </a:rPr>
              <a:t>+7.7% vs Jun 25</a:t>
            </a:r>
          </a:p>
        </p:txBody>
      </p:sp>
      <p:sp>
        <p:nvSpPr>
          <p:cNvPr id="21" name="Rectangle 20"/>
          <p:cNvSpPr/>
          <p:nvPr/>
        </p:nvSpPr>
        <p:spPr>
          <a:xfrm>
            <a:off x="6199632" y="804672"/>
            <a:ext cx="2834640" cy="987552"/>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804672"/>
            <a:ext cx="82296" cy="987552"/>
          </a:xfrm>
          <a:prstGeom prst="rect">
            <a:avLst/>
          </a:prstGeom>
          <a:solidFill>
            <a:srgbClr val="D0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877824"/>
            <a:ext cx="2578608" cy="219456"/>
          </a:xfrm>
          <a:prstGeom prst="rect">
            <a:avLst/>
          </a:prstGeom>
          <a:noFill/>
        </p:spPr>
        <p:txBody>
          <a:bodyPr wrap="square">
            <a:spAutoFit/>
          </a:bodyPr>
          <a:lstStyle/>
          <a:p>
            <a:pPr algn="l"/>
            <a:r>
              <a:rPr sz="1100" b="1">
                <a:solidFill>
                  <a:srgbClr val="3D4A55"/>
                </a:solidFill>
                <a:latin typeface="Calibri"/>
              </a:rPr>
              <a:t>NOODLES SHARE</a:t>
            </a:r>
          </a:p>
        </p:txBody>
      </p:sp>
      <p:sp>
        <p:nvSpPr>
          <p:cNvPr id="24" name="TextBox 23"/>
          <p:cNvSpPr txBox="1"/>
          <p:nvPr/>
        </p:nvSpPr>
        <p:spPr>
          <a:xfrm>
            <a:off x="6382512" y="1097280"/>
            <a:ext cx="2578608" cy="365760"/>
          </a:xfrm>
          <a:prstGeom prst="rect">
            <a:avLst/>
          </a:prstGeom>
          <a:noFill/>
        </p:spPr>
        <p:txBody>
          <a:bodyPr wrap="square">
            <a:spAutoFit/>
          </a:bodyPr>
          <a:lstStyle/>
          <a:p>
            <a:pPr algn="l"/>
            <a:r>
              <a:rPr sz="2400" b="1">
                <a:solidFill>
                  <a:srgbClr val="122A4A"/>
                </a:solidFill>
                <a:latin typeface="Calibri"/>
              </a:rPr>
              <a:t>64% of Pasta</a:t>
            </a:r>
          </a:p>
        </p:txBody>
      </p:sp>
      <p:sp>
        <p:nvSpPr>
          <p:cNvPr id="25" name="TextBox 24"/>
          <p:cNvSpPr txBox="1"/>
          <p:nvPr/>
        </p:nvSpPr>
        <p:spPr>
          <a:xfrm>
            <a:off x="6382512" y="1463040"/>
            <a:ext cx="2578608" cy="256032"/>
          </a:xfrm>
          <a:prstGeom prst="rect">
            <a:avLst/>
          </a:prstGeom>
          <a:noFill/>
        </p:spPr>
        <p:txBody>
          <a:bodyPr wrap="square">
            <a:spAutoFit/>
          </a:bodyPr>
          <a:lstStyle/>
          <a:p>
            <a:pPr algn="l"/>
            <a:r>
              <a:rPr sz="1200" b="0">
                <a:solidFill>
                  <a:srgbClr val="111111"/>
                </a:solidFill>
                <a:latin typeface="Calibri"/>
              </a:rPr>
              <a:t>+1.8pp vs YA</a:t>
            </a:r>
          </a:p>
        </p:txBody>
      </p:sp>
      <p:sp>
        <p:nvSpPr>
          <p:cNvPr id="26" name="Rectangle 25"/>
          <p:cNvSpPr/>
          <p:nvPr/>
        </p:nvSpPr>
        <p:spPr>
          <a:xfrm>
            <a:off x="9125712" y="804672"/>
            <a:ext cx="2706624" cy="987552"/>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25712" y="804672"/>
            <a:ext cx="82296" cy="987552"/>
          </a:xfrm>
          <a:prstGeom prst="rect">
            <a:avLst/>
          </a:prstGeom>
          <a:solidFill>
            <a:srgbClr val="B0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08592" y="877824"/>
            <a:ext cx="2450592" cy="219456"/>
          </a:xfrm>
          <a:prstGeom prst="rect">
            <a:avLst/>
          </a:prstGeom>
          <a:noFill/>
        </p:spPr>
        <p:txBody>
          <a:bodyPr wrap="square">
            <a:spAutoFit/>
          </a:bodyPr>
          <a:lstStyle/>
          <a:p>
            <a:pPr algn="l"/>
            <a:r>
              <a:rPr sz="1100" b="1">
                <a:solidFill>
                  <a:srgbClr val="3D4A55"/>
                </a:solidFill>
                <a:latin typeface="Calibri"/>
              </a:rPr>
              <a:t>CATEGORY PRICE</a:t>
            </a:r>
          </a:p>
        </p:txBody>
      </p:sp>
      <p:sp>
        <p:nvSpPr>
          <p:cNvPr id="29" name="TextBox 28"/>
          <p:cNvSpPr txBox="1"/>
          <p:nvPr/>
        </p:nvSpPr>
        <p:spPr>
          <a:xfrm>
            <a:off x="9308592" y="1097280"/>
            <a:ext cx="2450592" cy="365760"/>
          </a:xfrm>
          <a:prstGeom prst="rect">
            <a:avLst/>
          </a:prstGeom>
          <a:noFill/>
        </p:spPr>
        <p:txBody>
          <a:bodyPr wrap="square">
            <a:spAutoFit/>
          </a:bodyPr>
          <a:lstStyle/>
          <a:p>
            <a:pPr algn="l"/>
            <a:r>
              <a:rPr sz="2400" b="1">
                <a:solidFill>
                  <a:srgbClr val="122A4A"/>
                </a:solidFill>
                <a:latin typeface="Calibri"/>
              </a:rPr>
              <a:t>R58/kg</a:t>
            </a:r>
          </a:p>
        </p:txBody>
      </p:sp>
      <p:sp>
        <p:nvSpPr>
          <p:cNvPr id="30" name="TextBox 29"/>
          <p:cNvSpPr txBox="1"/>
          <p:nvPr/>
        </p:nvSpPr>
        <p:spPr>
          <a:xfrm>
            <a:off x="9308592" y="1463040"/>
            <a:ext cx="2450592" cy="256032"/>
          </a:xfrm>
          <a:prstGeom prst="rect">
            <a:avLst/>
          </a:prstGeom>
          <a:noFill/>
        </p:spPr>
        <p:txBody>
          <a:bodyPr wrap="square">
            <a:spAutoFit/>
          </a:bodyPr>
          <a:lstStyle/>
          <a:p>
            <a:pPr algn="l"/>
            <a:r>
              <a:rPr sz="1200" b="0">
                <a:solidFill>
                  <a:srgbClr val="111111"/>
                </a:solidFill>
                <a:latin typeface="Calibri"/>
              </a:rPr>
              <a:t>Noodles R96  ·  dry ~R32–35</a:t>
            </a:r>
          </a:p>
        </p:txBody>
      </p:sp>
      <p:sp>
        <p:nvSpPr>
          <p:cNvPr id="31" name="TextBox 30"/>
          <p:cNvSpPr txBox="1"/>
          <p:nvPr/>
        </p:nvSpPr>
        <p:spPr>
          <a:xfrm>
            <a:off x="347472" y="1938528"/>
            <a:ext cx="5760720" cy="292608"/>
          </a:xfrm>
          <a:prstGeom prst="rect">
            <a:avLst/>
          </a:prstGeom>
          <a:noFill/>
        </p:spPr>
        <p:txBody>
          <a:bodyPr wrap="square">
            <a:spAutoFit/>
          </a:bodyPr>
          <a:lstStyle/>
          <a:p>
            <a:pPr algn="l"/>
            <a:r>
              <a:rPr sz="1600" b="1">
                <a:solidFill>
                  <a:srgbClr val="122A4A"/>
                </a:solidFill>
                <a:latin typeface="Calibri"/>
              </a:rPr>
              <a:t>Where the value sits</a:t>
            </a:r>
          </a:p>
        </p:txBody>
      </p:sp>
      <p:pic>
        <p:nvPicPr>
          <p:cNvPr id="32" name="Picture 31" descr="data_subcat.png"/>
          <p:cNvPicPr>
            <a:picLocks noChangeAspect="1"/>
          </p:cNvPicPr>
          <p:nvPr/>
        </p:nvPicPr>
        <p:blipFill>
          <a:blip r:embed="rId3"/>
          <a:stretch>
            <a:fillRect/>
          </a:stretch>
        </p:blipFill>
        <p:spPr>
          <a:xfrm>
            <a:off x="256032" y="2359152"/>
            <a:ext cx="5852160" cy="2527069"/>
          </a:xfrm>
          <a:prstGeom prst="rect">
            <a:avLst/>
          </a:prstGeom>
        </p:spPr>
      </p:pic>
      <p:sp>
        <p:nvSpPr>
          <p:cNvPr id="33" name="TextBox 32"/>
          <p:cNvSpPr txBox="1"/>
          <p:nvPr/>
        </p:nvSpPr>
        <p:spPr>
          <a:xfrm>
            <a:off x="6309360" y="1938528"/>
            <a:ext cx="5486400" cy="292608"/>
          </a:xfrm>
          <a:prstGeom prst="rect">
            <a:avLst/>
          </a:prstGeom>
          <a:noFill/>
        </p:spPr>
        <p:txBody>
          <a:bodyPr wrap="square">
            <a:spAutoFit/>
          </a:bodyPr>
          <a:lstStyle/>
          <a:p>
            <a:pPr algn="l"/>
            <a:r>
              <a:rPr sz="1600" b="1">
                <a:solidFill>
                  <a:srgbClr val="122A4A"/>
                </a:solidFill>
                <a:latin typeface="Calibri"/>
              </a:rPr>
              <a:t>Key players — winning and losing</a:t>
            </a:r>
          </a:p>
        </p:txBody>
      </p:sp>
      <p:graphicFrame>
        <p:nvGraphicFramePr>
          <p:cNvPr id="34" name="Table 33"/>
          <p:cNvGraphicFramePr>
            <a:graphicFrameLocks noGrp="1"/>
          </p:cNvGraphicFramePr>
          <p:nvPr/>
        </p:nvGraphicFramePr>
        <p:xfrm>
          <a:off x="6309360" y="2359152"/>
          <a:ext cx="5532120" cy="2880360"/>
        </p:xfrm>
        <a:graphic>
          <a:graphicData uri="http://schemas.openxmlformats.org/drawingml/2006/table">
            <a:tbl>
              <a:tblPr firstRow="1" bandRow="1">
                <a:tableStyleId>{5C22544A-7EE6-4342-B048-85BDC9FD1C3A}</a:tableStyleId>
              </a:tblPr>
              <a:tblGrid>
                <a:gridCol w="1691640"/>
                <a:gridCol w="914400"/>
                <a:gridCol w="914400"/>
                <a:gridCol w="1005840"/>
                <a:gridCol w="1005840"/>
              </a:tblGrid>
              <a:tr h="360045">
                <a:tc>
                  <a:txBody>
                    <a:bodyPr/>
                    <a:lstStyle/>
                    <a:p>
                      <a:pPr algn="l"/>
                      <a:r>
                        <a:rPr sz="1300" b="1">
                          <a:solidFill>
                            <a:srgbClr val="FFFFFF"/>
                          </a:solidFill>
                          <a:latin typeface="Calibri"/>
                        </a:rPr>
                        <a:t>Manufacturer</a:t>
                      </a:r>
                    </a:p>
                  </a:txBody>
                  <a:tcPr>
                    <a:solidFill>
                      <a:srgbClr val="122A4A"/>
                    </a:solidFill>
                  </a:tcPr>
                </a:tc>
                <a:tc>
                  <a:txBody>
                    <a:bodyPr/>
                    <a:lstStyle/>
                    <a:p>
                      <a:pPr algn="r"/>
                      <a:r>
                        <a:rPr sz="1300" b="1">
                          <a:solidFill>
                            <a:srgbClr val="FFFFFF"/>
                          </a:solidFill>
                          <a:latin typeface="Calibri"/>
                        </a:rPr>
                        <a:t>Share</a:t>
                      </a:r>
                    </a:p>
                  </a:txBody>
                  <a:tcPr>
                    <a:solidFill>
                      <a:srgbClr val="122A4A"/>
                    </a:solidFill>
                  </a:tcPr>
                </a:tc>
                <a:tc>
                  <a:txBody>
                    <a:bodyPr/>
                    <a:lstStyle/>
                    <a:p>
                      <a:pPr algn="r"/>
                      <a:r>
                        <a:rPr sz="1300" b="1">
                          <a:solidFill>
                            <a:srgbClr val="FFFFFF"/>
                          </a:solidFill>
                          <a:latin typeface="Calibri"/>
                        </a:rPr>
                        <a:t>vs YA</a:t>
                      </a:r>
                    </a:p>
                  </a:txBody>
                  <a:tcPr>
                    <a:solidFill>
                      <a:srgbClr val="122A4A"/>
                    </a:solidFill>
                  </a:tcPr>
                </a:tc>
                <a:tc>
                  <a:txBody>
                    <a:bodyPr/>
                    <a:lstStyle/>
                    <a:p>
                      <a:pPr algn="r"/>
                      <a:r>
                        <a:rPr sz="1300" b="1">
                          <a:solidFill>
                            <a:srgbClr val="FFFFFF"/>
                          </a:solidFill>
                          <a:latin typeface="Calibri"/>
                        </a:rPr>
                        <a:t>Value</a:t>
                      </a:r>
                    </a:p>
                  </a:txBody>
                  <a:tcPr>
                    <a:solidFill>
                      <a:srgbClr val="122A4A"/>
                    </a:solidFill>
                  </a:tcPr>
                </a:tc>
                <a:tc>
                  <a:txBody>
                    <a:bodyPr/>
                    <a:lstStyle/>
                    <a:p>
                      <a:pPr algn="r"/>
                      <a:r>
                        <a:rPr sz="1300" b="1">
                          <a:solidFill>
                            <a:srgbClr val="FFFFFF"/>
                          </a:solidFill>
                          <a:latin typeface="Calibri"/>
                        </a:rPr>
                        <a:t>R/kg</a:t>
                      </a:r>
                    </a:p>
                  </a:txBody>
                  <a:tcPr>
                    <a:solidFill>
                      <a:srgbClr val="122A4A"/>
                    </a:solidFill>
                  </a:tcPr>
                </a:tc>
              </a:tr>
              <a:tr h="360045">
                <a:tc>
                  <a:txBody>
                    <a:bodyPr/>
                    <a:lstStyle/>
                    <a:p>
                      <a:pPr algn="l"/>
                      <a:r>
                        <a:rPr sz="1300" b="1">
                          <a:solidFill>
                            <a:srgbClr val="111111"/>
                          </a:solidFill>
                          <a:latin typeface="Calibri"/>
                        </a:rPr>
                        <a:t>Kellogg's</a:t>
                      </a:r>
                    </a:p>
                  </a:txBody>
                  <a:tcPr>
                    <a:solidFill>
                      <a:srgbClr val="EEF2F6"/>
                    </a:solidFill>
                  </a:tcPr>
                </a:tc>
                <a:tc>
                  <a:txBody>
                    <a:bodyPr/>
                    <a:lstStyle/>
                    <a:p>
                      <a:pPr algn="r"/>
                      <a:r>
                        <a:rPr sz="1300" b="0">
                          <a:solidFill>
                            <a:srgbClr val="111111"/>
                          </a:solidFill>
                          <a:latin typeface="Calibri"/>
                        </a:rPr>
                        <a:t>29.4%</a:t>
                      </a:r>
                    </a:p>
                  </a:txBody>
                  <a:tcPr>
                    <a:solidFill>
                      <a:srgbClr val="EEF2F6"/>
                    </a:solidFill>
                  </a:tcPr>
                </a:tc>
                <a:tc>
                  <a:txBody>
                    <a:bodyPr/>
                    <a:lstStyle/>
                    <a:p>
                      <a:pPr algn="r"/>
                      <a:r>
                        <a:rPr sz="1300" b="0">
                          <a:solidFill>
                            <a:srgbClr val="1B7A3A"/>
                          </a:solidFill>
                          <a:latin typeface="Calibri"/>
                        </a:rPr>
                        <a:t>+2.1pp</a:t>
                      </a:r>
                    </a:p>
                  </a:txBody>
                  <a:tcPr>
                    <a:solidFill>
                      <a:srgbClr val="EEF2F6"/>
                    </a:solidFill>
                  </a:tcPr>
                </a:tc>
                <a:tc>
                  <a:txBody>
                    <a:bodyPr/>
                    <a:lstStyle/>
                    <a:p>
                      <a:pPr algn="r"/>
                      <a:r>
                        <a:rPr sz="1300" b="0">
                          <a:solidFill>
                            <a:srgbClr val="1B7A3A"/>
                          </a:solidFill>
                          <a:latin typeface="Calibri"/>
                        </a:rPr>
                        <a:t>+13.1%</a:t>
                      </a:r>
                    </a:p>
                  </a:txBody>
                  <a:tcPr>
                    <a:solidFill>
                      <a:srgbClr val="EEF2F6"/>
                    </a:solidFill>
                  </a:tcPr>
                </a:tc>
                <a:tc>
                  <a:txBody>
                    <a:bodyPr/>
                    <a:lstStyle/>
                    <a:p>
                      <a:pPr algn="r"/>
                      <a:r>
                        <a:rPr sz="1300" b="0">
                          <a:solidFill>
                            <a:srgbClr val="111111"/>
                          </a:solidFill>
                          <a:latin typeface="Calibri"/>
                        </a:rPr>
                        <a:t>R87</a:t>
                      </a:r>
                    </a:p>
                  </a:txBody>
                  <a:tcPr>
                    <a:solidFill>
                      <a:srgbClr val="EEF2F6"/>
                    </a:solidFill>
                  </a:tcPr>
                </a:tc>
              </a:tr>
              <a:tr h="360045">
                <a:tc>
                  <a:txBody>
                    <a:bodyPr/>
                    <a:lstStyle/>
                    <a:p>
                      <a:pPr algn="l"/>
                      <a:r>
                        <a:rPr sz="1300" b="1">
                          <a:solidFill>
                            <a:srgbClr val="111111"/>
                          </a:solidFill>
                          <a:latin typeface="Calibri"/>
                        </a:rPr>
                        <a:t>Nestlé</a:t>
                      </a:r>
                    </a:p>
                  </a:txBody>
                  <a:tcPr>
                    <a:solidFill>
                      <a:srgbClr val="FFFFFF"/>
                    </a:solidFill>
                  </a:tcPr>
                </a:tc>
                <a:tc>
                  <a:txBody>
                    <a:bodyPr/>
                    <a:lstStyle/>
                    <a:p>
                      <a:pPr algn="r"/>
                      <a:r>
                        <a:rPr sz="1300" b="0">
                          <a:solidFill>
                            <a:srgbClr val="111111"/>
                          </a:solidFill>
                          <a:latin typeface="Calibri"/>
                        </a:rPr>
                        <a:t>18.5%</a:t>
                      </a:r>
                    </a:p>
                  </a:txBody>
                  <a:tcPr>
                    <a:solidFill>
                      <a:srgbClr val="FFFFFF"/>
                    </a:solidFill>
                  </a:tcPr>
                </a:tc>
                <a:tc>
                  <a:txBody>
                    <a:bodyPr/>
                    <a:lstStyle/>
                    <a:p>
                      <a:pPr algn="r"/>
                      <a:r>
                        <a:rPr sz="1300" b="0">
                          <a:solidFill>
                            <a:srgbClr val="B02828"/>
                          </a:solidFill>
                          <a:latin typeface="Calibri"/>
                        </a:rPr>
                        <a:t>-2.7pp</a:t>
                      </a:r>
                    </a:p>
                  </a:txBody>
                  <a:tcPr>
                    <a:solidFill>
                      <a:srgbClr val="FFFFFF"/>
                    </a:solidFill>
                  </a:tcPr>
                </a:tc>
                <a:tc>
                  <a:txBody>
                    <a:bodyPr/>
                    <a:lstStyle/>
                    <a:p>
                      <a:pPr algn="r"/>
                      <a:r>
                        <a:rPr sz="1300" b="0">
                          <a:solidFill>
                            <a:srgbClr val="B02828"/>
                          </a:solidFill>
                          <a:latin typeface="Calibri"/>
                        </a:rPr>
                        <a:t>-8.2%</a:t>
                      </a:r>
                    </a:p>
                  </a:txBody>
                  <a:tcPr>
                    <a:solidFill>
                      <a:srgbClr val="FFFFFF"/>
                    </a:solidFill>
                  </a:tcPr>
                </a:tc>
                <a:tc>
                  <a:txBody>
                    <a:bodyPr/>
                    <a:lstStyle/>
                    <a:p>
                      <a:pPr algn="r"/>
                      <a:r>
                        <a:rPr sz="1300" b="0">
                          <a:solidFill>
                            <a:srgbClr val="111111"/>
                          </a:solidFill>
                          <a:latin typeface="Calibri"/>
                        </a:rPr>
                        <a:t>R100</a:t>
                      </a:r>
                    </a:p>
                  </a:txBody>
                  <a:tcPr>
                    <a:solidFill>
                      <a:srgbClr val="FFFFFF"/>
                    </a:solidFill>
                  </a:tcPr>
                </a:tc>
              </a:tr>
              <a:tr h="360045">
                <a:tc>
                  <a:txBody>
                    <a:bodyPr/>
                    <a:lstStyle/>
                    <a:p>
                      <a:pPr algn="l"/>
                      <a:r>
                        <a:rPr sz="1300" b="1">
                          <a:solidFill>
                            <a:srgbClr val="111111"/>
                          </a:solidFill>
                          <a:latin typeface="Calibri"/>
                        </a:rPr>
                        <a:t>Tiger Brands</a:t>
                      </a:r>
                    </a:p>
                  </a:txBody>
                  <a:tcPr>
                    <a:solidFill>
                      <a:srgbClr val="EEF2F6"/>
                    </a:solidFill>
                  </a:tcPr>
                </a:tc>
                <a:tc>
                  <a:txBody>
                    <a:bodyPr/>
                    <a:lstStyle/>
                    <a:p>
                      <a:pPr algn="r"/>
                      <a:r>
                        <a:rPr sz="1300" b="0">
                          <a:solidFill>
                            <a:srgbClr val="111111"/>
                          </a:solidFill>
                          <a:latin typeface="Calibri"/>
                        </a:rPr>
                        <a:t>13.8%</a:t>
                      </a:r>
                    </a:p>
                  </a:txBody>
                  <a:tcPr>
                    <a:solidFill>
                      <a:srgbClr val="EEF2F6"/>
                    </a:solidFill>
                  </a:tcPr>
                </a:tc>
                <a:tc>
                  <a:txBody>
                    <a:bodyPr/>
                    <a:lstStyle/>
                    <a:p>
                      <a:pPr algn="r"/>
                      <a:r>
                        <a:rPr sz="1300" b="0">
                          <a:solidFill>
                            <a:srgbClr val="B02828"/>
                          </a:solidFill>
                          <a:latin typeface="Calibri"/>
                        </a:rPr>
                        <a:t>-1.5pp</a:t>
                      </a:r>
                    </a:p>
                  </a:txBody>
                  <a:tcPr>
                    <a:solidFill>
                      <a:srgbClr val="EEF2F6"/>
                    </a:solidFill>
                  </a:tcPr>
                </a:tc>
                <a:tc>
                  <a:txBody>
                    <a:bodyPr/>
                    <a:lstStyle/>
                    <a:p>
                      <a:pPr algn="r"/>
                      <a:r>
                        <a:rPr sz="1300" b="0">
                          <a:solidFill>
                            <a:srgbClr val="B02828"/>
                          </a:solidFill>
                          <a:latin typeface="Calibri"/>
                        </a:rPr>
                        <a:t>-4.8%</a:t>
                      </a:r>
                    </a:p>
                  </a:txBody>
                  <a:tcPr>
                    <a:solidFill>
                      <a:srgbClr val="EEF2F6"/>
                    </a:solidFill>
                  </a:tcPr>
                </a:tc>
                <a:tc>
                  <a:txBody>
                    <a:bodyPr/>
                    <a:lstStyle/>
                    <a:p>
                      <a:pPr algn="r"/>
                      <a:r>
                        <a:rPr sz="1300" b="0">
                          <a:solidFill>
                            <a:srgbClr val="111111"/>
                          </a:solidFill>
                          <a:latin typeface="Calibri"/>
                        </a:rPr>
                        <a:t>R35</a:t>
                      </a:r>
                    </a:p>
                  </a:txBody>
                  <a:tcPr>
                    <a:solidFill>
                      <a:srgbClr val="EEF2F6"/>
                    </a:solidFill>
                  </a:tcPr>
                </a:tc>
              </a:tr>
              <a:tr h="360045">
                <a:tc>
                  <a:txBody>
                    <a:bodyPr/>
                    <a:lstStyle/>
                    <a:p>
                      <a:pPr algn="l"/>
                      <a:r>
                        <a:rPr sz="1300" b="1">
                          <a:solidFill>
                            <a:srgbClr val="111111"/>
                          </a:solidFill>
                          <a:latin typeface="Calibri"/>
                        </a:rPr>
                        <a:t>Private Label</a:t>
                      </a:r>
                    </a:p>
                  </a:txBody>
                  <a:tcPr>
                    <a:solidFill>
                      <a:srgbClr val="FFFFFF"/>
                    </a:solidFill>
                  </a:tcPr>
                </a:tc>
                <a:tc>
                  <a:txBody>
                    <a:bodyPr/>
                    <a:lstStyle/>
                    <a:p>
                      <a:pPr algn="r"/>
                      <a:r>
                        <a:rPr sz="1300" b="0">
                          <a:solidFill>
                            <a:srgbClr val="111111"/>
                          </a:solidFill>
                          <a:latin typeface="Calibri"/>
                        </a:rPr>
                        <a:t>9.1%</a:t>
                      </a:r>
                    </a:p>
                  </a:txBody>
                  <a:tcPr>
                    <a:solidFill>
                      <a:srgbClr val="FFFFFF"/>
                    </a:solidFill>
                  </a:tcPr>
                </a:tc>
                <a:tc>
                  <a:txBody>
                    <a:bodyPr/>
                    <a:lstStyle/>
                    <a:p>
                      <a:pPr algn="r"/>
                      <a:r>
                        <a:rPr sz="1300" b="0">
                          <a:solidFill>
                            <a:srgbClr val="1B7A3A"/>
                          </a:solidFill>
                          <a:latin typeface="Calibri"/>
                        </a:rPr>
                        <a:t>+0.0pp</a:t>
                      </a:r>
                    </a:p>
                  </a:txBody>
                  <a:tcPr>
                    <a:solidFill>
                      <a:srgbClr val="FFFFFF"/>
                    </a:solidFill>
                  </a:tcPr>
                </a:tc>
                <a:tc>
                  <a:txBody>
                    <a:bodyPr/>
                    <a:lstStyle/>
                    <a:p>
                      <a:pPr algn="r"/>
                      <a:r>
                        <a:rPr sz="1300" b="0">
                          <a:solidFill>
                            <a:srgbClr val="1B7A3A"/>
                          </a:solidFill>
                          <a:latin typeface="Calibri"/>
                        </a:rPr>
                        <a:t>+5.6%</a:t>
                      </a:r>
                    </a:p>
                  </a:txBody>
                  <a:tcPr>
                    <a:solidFill>
                      <a:srgbClr val="FFFFFF"/>
                    </a:solidFill>
                  </a:tcPr>
                </a:tc>
                <a:tc>
                  <a:txBody>
                    <a:bodyPr/>
                    <a:lstStyle/>
                    <a:p>
                      <a:pPr algn="r"/>
                      <a:r>
                        <a:rPr sz="1300" b="0">
                          <a:solidFill>
                            <a:srgbClr val="111111"/>
                          </a:solidFill>
                          <a:latin typeface="Calibri"/>
                        </a:rPr>
                        <a:t>R31</a:t>
                      </a:r>
                    </a:p>
                  </a:txBody>
                  <a:tcPr>
                    <a:solidFill>
                      <a:srgbClr val="FFFFFF"/>
                    </a:solidFill>
                  </a:tcPr>
                </a:tc>
              </a:tr>
              <a:tr h="360045">
                <a:tc>
                  <a:txBody>
                    <a:bodyPr/>
                    <a:lstStyle/>
                    <a:p>
                      <a:pPr algn="l"/>
                      <a:r>
                        <a:rPr sz="1300" b="1">
                          <a:solidFill>
                            <a:srgbClr val="111111"/>
                          </a:solidFill>
                          <a:latin typeface="Calibri"/>
                        </a:rPr>
                        <a:t>Mr Pasta</a:t>
                      </a:r>
                    </a:p>
                  </a:txBody>
                  <a:tcPr>
                    <a:solidFill>
                      <a:srgbClr val="EEF2F6"/>
                    </a:solidFill>
                  </a:tcPr>
                </a:tc>
                <a:tc>
                  <a:txBody>
                    <a:bodyPr/>
                    <a:lstStyle/>
                    <a:p>
                      <a:pPr algn="r"/>
                      <a:r>
                        <a:rPr sz="1300" b="0">
                          <a:solidFill>
                            <a:srgbClr val="111111"/>
                          </a:solidFill>
                          <a:latin typeface="Calibri"/>
                        </a:rPr>
                        <a:t>5.9%</a:t>
                      </a:r>
                    </a:p>
                  </a:txBody>
                  <a:tcPr>
                    <a:solidFill>
                      <a:srgbClr val="EEF2F6"/>
                    </a:solidFill>
                  </a:tcPr>
                </a:tc>
                <a:tc>
                  <a:txBody>
                    <a:bodyPr/>
                    <a:lstStyle/>
                    <a:p>
                      <a:pPr algn="r"/>
                      <a:r>
                        <a:rPr sz="1300" b="0">
                          <a:solidFill>
                            <a:srgbClr val="B02828"/>
                          </a:solidFill>
                          <a:latin typeface="Calibri"/>
                        </a:rPr>
                        <a:t>-2.0pp</a:t>
                      </a:r>
                    </a:p>
                  </a:txBody>
                  <a:tcPr>
                    <a:solidFill>
                      <a:srgbClr val="EEF2F6"/>
                    </a:solidFill>
                  </a:tcPr>
                </a:tc>
                <a:tc>
                  <a:txBody>
                    <a:bodyPr/>
                    <a:lstStyle/>
                    <a:p>
                      <a:pPr algn="r"/>
                      <a:r>
                        <a:rPr sz="1300" b="0">
                          <a:solidFill>
                            <a:srgbClr val="B02828"/>
                          </a:solidFill>
                          <a:latin typeface="Calibri"/>
                        </a:rPr>
                        <a:t>-21.6%</a:t>
                      </a:r>
                    </a:p>
                  </a:txBody>
                  <a:tcPr>
                    <a:solidFill>
                      <a:srgbClr val="EEF2F6"/>
                    </a:solidFill>
                  </a:tcPr>
                </a:tc>
                <a:tc>
                  <a:txBody>
                    <a:bodyPr/>
                    <a:lstStyle/>
                    <a:p>
                      <a:pPr algn="r"/>
                      <a:r>
                        <a:rPr sz="1300" b="0">
                          <a:solidFill>
                            <a:srgbClr val="111111"/>
                          </a:solidFill>
                          <a:latin typeface="Calibri"/>
                        </a:rPr>
                        <a:t>R36</a:t>
                      </a:r>
                    </a:p>
                  </a:txBody>
                  <a:tcPr>
                    <a:solidFill>
                      <a:srgbClr val="EEF2F6"/>
                    </a:solidFill>
                  </a:tcPr>
                </a:tc>
              </a:tr>
              <a:tr h="360045">
                <a:tc>
                  <a:txBody>
                    <a:bodyPr/>
                    <a:lstStyle/>
                    <a:p>
                      <a:pPr algn="l"/>
                      <a:r>
                        <a:rPr sz="1300" b="1">
                          <a:solidFill>
                            <a:srgbClr val="111111"/>
                          </a:solidFill>
                          <a:latin typeface="Calibri"/>
                        </a:rPr>
                        <a:t>Indofood</a:t>
                      </a:r>
                    </a:p>
                  </a:txBody>
                  <a:tcPr>
                    <a:solidFill>
                      <a:srgbClr val="FFFFFF"/>
                    </a:solidFill>
                  </a:tcPr>
                </a:tc>
                <a:tc>
                  <a:txBody>
                    <a:bodyPr/>
                    <a:lstStyle/>
                    <a:p>
                      <a:pPr algn="r"/>
                      <a:r>
                        <a:rPr sz="1300" b="0">
                          <a:solidFill>
                            <a:srgbClr val="111111"/>
                          </a:solidFill>
                          <a:latin typeface="Calibri"/>
                        </a:rPr>
                        <a:t>4.4%</a:t>
                      </a:r>
                    </a:p>
                  </a:txBody>
                  <a:tcPr>
                    <a:solidFill>
                      <a:srgbClr val="FFFFFF"/>
                    </a:solidFill>
                  </a:tcPr>
                </a:tc>
                <a:tc>
                  <a:txBody>
                    <a:bodyPr/>
                    <a:lstStyle/>
                    <a:p>
                      <a:pPr algn="r"/>
                      <a:r>
                        <a:rPr sz="1300" b="0">
                          <a:solidFill>
                            <a:srgbClr val="1B7A3A"/>
                          </a:solidFill>
                          <a:latin typeface="Calibri"/>
                        </a:rPr>
                        <a:t>+1.4pp</a:t>
                      </a:r>
                    </a:p>
                  </a:txBody>
                  <a:tcPr>
                    <a:solidFill>
                      <a:srgbClr val="FFFFFF"/>
                    </a:solidFill>
                  </a:tcPr>
                </a:tc>
                <a:tc>
                  <a:txBody>
                    <a:bodyPr/>
                    <a:lstStyle/>
                    <a:p>
                      <a:pPr algn="r"/>
                      <a:r>
                        <a:rPr sz="1300" b="0">
                          <a:solidFill>
                            <a:srgbClr val="1B7A3A"/>
                          </a:solidFill>
                          <a:latin typeface="Calibri"/>
                        </a:rPr>
                        <a:t>+55.7%</a:t>
                      </a:r>
                    </a:p>
                  </a:txBody>
                  <a:tcPr>
                    <a:solidFill>
                      <a:srgbClr val="FFFFFF"/>
                    </a:solidFill>
                  </a:tcPr>
                </a:tc>
                <a:tc>
                  <a:txBody>
                    <a:bodyPr/>
                    <a:lstStyle/>
                    <a:p>
                      <a:pPr algn="r"/>
                      <a:r>
                        <a:rPr sz="1300" b="0">
                          <a:solidFill>
                            <a:srgbClr val="111111"/>
                          </a:solidFill>
                          <a:latin typeface="Calibri"/>
                        </a:rPr>
                        <a:t>R99</a:t>
                      </a:r>
                    </a:p>
                  </a:txBody>
                  <a:tcPr>
                    <a:solidFill>
                      <a:srgbClr val="FFFFFF"/>
                    </a:solidFill>
                  </a:tcPr>
                </a:tc>
              </a:tr>
              <a:tr h="360045">
                <a:tc>
                  <a:txBody>
                    <a:bodyPr/>
                    <a:lstStyle/>
                    <a:p>
                      <a:pPr algn="l"/>
                      <a:r>
                        <a:rPr sz="1300" b="1">
                          <a:solidFill>
                            <a:srgbClr val="111111"/>
                          </a:solidFill>
                          <a:latin typeface="Calibri"/>
                        </a:rPr>
                        <a:t>Roka</a:t>
                      </a:r>
                    </a:p>
                  </a:txBody>
                  <a:tcPr>
                    <a:solidFill>
                      <a:srgbClr val="EEF2F6"/>
                    </a:solidFill>
                  </a:tcPr>
                </a:tc>
                <a:tc>
                  <a:txBody>
                    <a:bodyPr/>
                    <a:lstStyle/>
                    <a:p>
                      <a:pPr algn="r"/>
                      <a:r>
                        <a:rPr sz="1300" b="0">
                          <a:solidFill>
                            <a:srgbClr val="111111"/>
                          </a:solidFill>
                          <a:latin typeface="Calibri"/>
                        </a:rPr>
                        <a:t>4.1%</a:t>
                      </a:r>
                    </a:p>
                  </a:txBody>
                  <a:tcPr>
                    <a:solidFill>
                      <a:srgbClr val="EEF2F6"/>
                    </a:solidFill>
                  </a:tcPr>
                </a:tc>
                <a:tc>
                  <a:txBody>
                    <a:bodyPr/>
                    <a:lstStyle/>
                    <a:p>
                      <a:pPr algn="r"/>
                      <a:r>
                        <a:rPr sz="1300" b="0">
                          <a:solidFill>
                            <a:srgbClr val="B02828"/>
                          </a:solidFill>
                          <a:latin typeface="Calibri"/>
                        </a:rPr>
                        <a:t>-0.2pp</a:t>
                      </a:r>
                    </a:p>
                  </a:txBody>
                  <a:tcPr>
                    <a:solidFill>
                      <a:srgbClr val="EEF2F6"/>
                    </a:solidFill>
                  </a:tcPr>
                </a:tc>
                <a:tc>
                  <a:txBody>
                    <a:bodyPr/>
                    <a:lstStyle/>
                    <a:p>
                      <a:pPr algn="r"/>
                      <a:r>
                        <a:rPr sz="1300" b="0">
                          <a:solidFill>
                            <a:srgbClr val="1B7A3A"/>
                          </a:solidFill>
                          <a:latin typeface="Calibri"/>
                        </a:rPr>
                        <a:t>+1.5%</a:t>
                      </a:r>
                    </a:p>
                  </a:txBody>
                  <a:tcPr>
                    <a:solidFill>
                      <a:srgbClr val="EEF2F6"/>
                    </a:solidFill>
                  </a:tcPr>
                </a:tc>
                <a:tc>
                  <a:txBody>
                    <a:bodyPr/>
                    <a:lstStyle/>
                    <a:p>
                      <a:pPr algn="r"/>
                      <a:r>
                        <a:rPr sz="1300" b="0">
                          <a:solidFill>
                            <a:srgbClr val="111111"/>
                          </a:solidFill>
                          <a:latin typeface="Calibri"/>
                        </a:rPr>
                        <a:t>R69</a:t>
                      </a:r>
                    </a:p>
                  </a:txBody>
                  <a:tcPr>
                    <a:solidFill>
                      <a:srgbClr val="EEF2F6"/>
                    </a:solidFill>
                  </a:tcPr>
                </a:tc>
              </a:tr>
            </a:tbl>
          </a:graphicData>
        </a:graphic>
      </p:graphicFrame>
      <p:sp>
        <p:nvSpPr>
          <p:cNvPr id="35" name="TextBox 34"/>
          <p:cNvSpPr txBox="1"/>
          <p:nvPr/>
        </p:nvSpPr>
        <p:spPr>
          <a:xfrm>
            <a:off x="347472" y="5074920"/>
            <a:ext cx="11475720" cy="1325880"/>
          </a:xfrm>
          <a:prstGeom prst="rect">
            <a:avLst/>
          </a:prstGeom>
          <a:noFill/>
        </p:spPr>
        <p:txBody>
          <a:bodyPr wrap="square">
            <a:spAutoFit/>
          </a:bodyPr>
          <a:lstStyle/>
          <a:p>
            <a:pPr algn="l"/>
            <a:r>
              <a:rPr sz="1500" b="0">
                <a:solidFill>
                  <a:srgbClr val="111111"/>
                </a:solidFill>
                <a:latin typeface="Calibri"/>
              </a:rPr>
              <a:t>Noodles is the Pasta category (64% of value, growing faster than dry pasta). Kellogg's and Indomie are taking share. Nestlé, Mr Pasta and Tiger Brands are losing it. Unilever does not appear in Pasta until Noodles, and only in June.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164592"/>
            <a:ext cx="9509760" cy="420624"/>
          </a:xfrm>
          <a:prstGeom prst="rect">
            <a:avLst/>
          </a:prstGeom>
          <a:noFill/>
        </p:spPr>
        <p:txBody>
          <a:bodyPr wrap="square">
            <a:spAutoFit/>
          </a:bodyPr>
          <a:lstStyle/>
          <a:p>
            <a:pPr algn="l"/>
            <a:r>
              <a:rPr sz="2400" b="1">
                <a:solidFill>
                  <a:srgbClr val="122A4A"/>
                </a:solidFill>
                <a:latin typeface="Calibri"/>
              </a:rPr>
              <a:t>Noodles: players, winners, price — and where Unilever sits</a:t>
            </a:r>
          </a:p>
        </p:txBody>
      </p:sp>
      <p:sp>
        <p:nvSpPr>
          <p:cNvPr id="6" name="Rectangle 5"/>
          <p:cNvSpPr/>
          <p:nvPr/>
        </p:nvSpPr>
        <p:spPr>
          <a:xfrm>
            <a:off x="347472" y="603504"/>
            <a:ext cx="2011680" cy="54864"/>
          </a:xfrm>
          <a:prstGeom prst="rect">
            <a:avLst/>
          </a:prstGeom>
          <a:solidFill>
            <a:srgbClr val="D0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mollan_logo_content.png"/>
          <p:cNvPicPr>
            <a:picLocks noChangeAspect="1"/>
          </p:cNvPicPr>
          <p:nvPr/>
        </p:nvPicPr>
        <p:blipFill>
          <a:blip r:embed="rId2"/>
          <a:stretch>
            <a:fillRect/>
          </a:stretch>
        </p:blipFill>
        <p:spPr>
          <a:xfrm>
            <a:off x="10104120" y="128016"/>
            <a:ext cx="1783080" cy="384048"/>
          </a:xfrm>
          <a:prstGeom prst="rect">
            <a:avLst/>
          </a:prstGeom>
        </p:spPr>
      </p:pic>
      <p:sp>
        <p:nvSpPr>
          <p:cNvPr id="8" name="Rectangle 7"/>
          <p:cNvSpPr/>
          <p:nvPr/>
        </p:nvSpPr>
        <p:spPr>
          <a:xfrm>
            <a:off x="0" y="6565392"/>
            <a:ext cx="12191695" cy="292608"/>
          </a:xfrm>
          <a:prstGeom prst="rect">
            <a:avLst/>
          </a:prstGeom>
          <a:solidFill>
            <a:srgbClr val="F3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6601968"/>
            <a:ext cx="8412480" cy="201168"/>
          </a:xfrm>
          <a:prstGeom prst="rect">
            <a:avLst/>
          </a:prstGeom>
          <a:noFill/>
        </p:spPr>
        <p:txBody>
          <a:bodyPr wrap="square">
            <a:spAutoFit/>
          </a:bodyPr>
          <a:lstStyle/>
          <a:p>
            <a:pPr algn="l"/>
            <a:r>
              <a:rPr sz="1100" b="0">
                <a:solidFill>
                  <a:srgbClr val="3D4A55"/>
                </a:solidFill>
                <a:latin typeface="Calibri"/>
              </a:rPr>
              <a:t>South Africa Pasta  ·  12 months Jul 25–Jun 26 vs YA  ·  latest month Jun 26  ·  price = value ÷ volume</a:t>
            </a:r>
          </a:p>
        </p:txBody>
      </p:sp>
      <p:sp>
        <p:nvSpPr>
          <p:cNvPr id="10" name="TextBox 9"/>
          <p:cNvSpPr txBox="1"/>
          <p:nvPr/>
        </p:nvSpPr>
        <p:spPr>
          <a:xfrm>
            <a:off x="10424160" y="6601968"/>
            <a:ext cx="1417320" cy="201168"/>
          </a:xfrm>
          <a:prstGeom prst="rect">
            <a:avLst/>
          </a:prstGeom>
          <a:noFill/>
        </p:spPr>
        <p:txBody>
          <a:bodyPr wrap="square">
            <a:spAutoFit/>
          </a:bodyPr>
          <a:lstStyle/>
          <a:p>
            <a:pPr algn="r"/>
            <a:r>
              <a:rPr sz="1100" b="1">
                <a:solidFill>
                  <a:srgbClr val="122A4A"/>
                </a:solidFill>
                <a:latin typeface="Calibri"/>
              </a:rPr>
              <a:t>3 / 5</a:t>
            </a:r>
          </a:p>
        </p:txBody>
      </p:sp>
      <p:sp>
        <p:nvSpPr>
          <p:cNvPr id="11" name="Rectangle 10"/>
          <p:cNvSpPr/>
          <p:nvPr/>
        </p:nvSpPr>
        <p:spPr>
          <a:xfrm>
            <a:off x="347472" y="786384"/>
            <a:ext cx="2834640" cy="877824"/>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786384"/>
            <a:ext cx="82296" cy="877824"/>
          </a:xfrm>
          <a:prstGeom prst="rect">
            <a:avLst/>
          </a:prstGeom>
          <a:solidFill>
            <a:srgbClr val="1F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859536"/>
            <a:ext cx="2578608" cy="219456"/>
          </a:xfrm>
          <a:prstGeom prst="rect">
            <a:avLst/>
          </a:prstGeom>
          <a:noFill/>
        </p:spPr>
        <p:txBody>
          <a:bodyPr wrap="square">
            <a:spAutoFit/>
          </a:bodyPr>
          <a:lstStyle/>
          <a:p>
            <a:pPr algn="l"/>
            <a:r>
              <a:rPr sz="1100" b="1">
                <a:solidFill>
                  <a:srgbClr val="3D4A55"/>
                </a:solidFill>
                <a:latin typeface="Calibri"/>
              </a:rPr>
              <a:t>12-MONTH VALUE</a:t>
            </a:r>
          </a:p>
        </p:txBody>
      </p:sp>
      <p:sp>
        <p:nvSpPr>
          <p:cNvPr id="14" name="TextBox 13"/>
          <p:cNvSpPr txBox="1"/>
          <p:nvPr/>
        </p:nvSpPr>
        <p:spPr>
          <a:xfrm>
            <a:off x="530352" y="1078992"/>
            <a:ext cx="2578608" cy="365760"/>
          </a:xfrm>
          <a:prstGeom prst="rect">
            <a:avLst/>
          </a:prstGeom>
          <a:noFill/>
        </p:spPr>
        <p:txBody>
          <a:bodyPr wrap="square">
            <a:spAutoFit/>
          </a:bodyPr>
          <a:lstStyle/>
          <a:p>
            <a:pPr algn="l"/>
            <a:r>
              <a:rPr sz="2400" b="1">
                <a:solidFill>
                  <a:srgbClr val="122A4A"/>
                </a:solidFill>
                <a:latin typeface="Calibri"/>
              </a:rPr>
              <a:t>R2.1bn</a:t>
            </a:r>
          </a:p>
        </p:txBody>
      </p:sp>
      <p:sp>
        <p:nvSpPr>
          <p:cNvPr id="15" name="TextBox 14"/>
          <p:cNvSpPr txBox="1"/>
          <p:nvPr/>
        </p:nvSpPr>
        <p:spPr>
          <a:xfrm>
            <a:off x="530352" y="1444752"/>
            <a:ext cx="2578608" cy="256032"/>
          </a:xfrm>
          <a:prstGeom prst="rect">
            <a:avLst/>
          </a:prstGeom>
          <a:noFill/>
        </p:spPr>
        <p:txBody>
          <a:bodyPr wrap="square">
            <a:spAutoFit/>
          </a:bodyPr>
          <a:lstStyle/>
          <a:p>
            <a:pPr algn="l"/>
            <a:r>
              <a:rPr sz="1200" b="0">
                <a:solidFill>
                  <a:srgbClr val="111111"/>
                </a:solidFill>
                <a:latin typeface="Calibri"/>
              </a:rPr>
              <a:t>+8.2%  ·  vol +5.0%</a:t>
            </a:r>
          </a:p>
        </p:txBody>
      </p:sp>
      <p:sp>
        <p:nvSpPr>
          <p:cNvPr id="16" name="Rectangle 15"/>
          <p:cNvSpPr/>
          <p:nvPr/>
        </p:nvSpPr>
        <p:spPr>
          <a:xfrm>
            <a:off x="3273552" y="786384"/>
            <a:ext cx="2834640" cy="877824"/>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73552" y="786384"/>
            <a:ext cx="82296" cy="877824"/>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859536"/>
            <a:ext cx="2578608" cy="219456"/>
          </a:xfrm>
          <a:prstGeom prst="rect">
            <a:avLst/>
          </a:prstGeom>
          <a:noFill/>
        </p:spPr>
        <p:txBody>
          <a:bodyPr wrap="square">
            <a:spAutoFit/>
          </a:bodyPr>
          <a:lstStyle/>
          <a:p>
            <a:pPr algn="l"/>
            <a:r>
              <a:rPr sz="1100" b="1">
                <a:solidFill>
                  <a:srgbClr val="3D4A55"/>
                </a:solidFill>
                <a:latin typeface="Calibri"/>
              </a:rPr>
              <a:t>JUNE 2026</a:t>
            </a:r>
          </a:p>
        </p:txBody>
      </p:sp>
      <p:sp>
        <p:nvSpPr>
          <p:cNvPr id="19" name="TextBox 18"/>
          <p:cNvSpPr txBox="1"/>
          <p:nvPr/>
        </p:nvSpPr>
        <p:spPr>
          <a:xfrm>
            <a:off x="3456432" y="1078992"/>
            <a:ext cx="2578608" cy="365760"/>
          </a:xfrm>
          <a:prstGeom prst="rect">
            <a:avLst/>
          </a:prstGeom>
          <a:noFill/>
        </p:spPr>
        <p:txBody>
          <a:bodyPr wrap="square">
            <a:spAutoFit/>
          </a:bodyPr>
          <a:lstStyle/>
          <a:p>
            <a:pPr algn="l"/>
            <a:r>
              <a:rPr sz="2400" b="1">
                <a:solidFill>
                  <a:srgbClr val="122A4A"/>
                </a:solidFill>
                <a:latin typeface="Calibri"/>
              </a:rPr>
              <a:t>R221.5m</a:t>
            </a:r>
          </a:p>
        </p:txBody>
      </p:sp>
      <p:sp>
        <p:nvSpPr>
          <p:cNvPr id="20" name="TextBox 19"/>
          <p:cNvSpPr txBox="1"/>
          <p:nvPr/>
        </p:nvSpPr>
        <p:spPr>
          <a:xfrm>
            <a:off x="3456432" y="1444752"/>
            <a:ext cx="2578608" cy="256032"/>
          </a:xfrm>
          <a:prstGeom prst="rect">
            <a:avLst/>
          </a:prstGeom>
          <a:noFill/>
        </p:spPr>
        <p:txBody>
          <a:bodyPr wrap="square">
            <a:spAutoFit/>
          </a:bodyPr>
          <a:lstStyle/>
          <a:p>
            <a:pPr algn="l"/>
            <a:r>
              <a:rPr sz="1200" b="0">
                <a:solidFill>
                  <a:srgbClr val="111111"/>
                </a:solidFill>
                <a:latin typeface="Calibri"/>
              </a:rPr>
              <a:t>+10.0% vs Jun 25</a:t>
            </a:r>
          </a:p>
        </p:txBody>
      </p:sp>
      <p:sp>
        <p:nvSpPr>
          <p:cNvPr id="21" name="Rectangle 20"/>
          <p:cNvSpPr/>
          <p:nvPr/>
        </p:nvSpPr>
        <p:spPr>
          <a:xfrm>
            <a:off x="6199632" y="786384"/>
            <a:ext cx="2834640" cy="877824"/>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2" y="786384"/>
            <a:ext cx="82296" cy="877824"/>
          </a:xfrm>
          <a:prstGeom prst="rect">
            <a:avLst/>
          </a:prstGeom>
          <a:solidFill>
            <a:srgbClr val="D0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859536"/>
            <a:ext cx="2578608" cy="219456"/>
          </a:xfrm>
          <a:prstGeom prst="rect">
            <a:avLst/>
          </a:prstGeom>
          <a:noFill/>
        </p:spPr>
        <p:txBody>
          <a:bodyPr wrap="square">
            <a:spAutoFit/>
          </a:bodyPr>
          <a:lstStyle/>
          <a:p>
            <a:pPr algn="l"/>
            <a:r>
              <a:rPr sz="1100" b="1">
                <a:solidFill>
                  <a:srgbClr val="3D4A55"/>
                </a:solidFill>
                <a:latin typeface="Calibri"/>
              </a:rPr>
              <a:t>MASS PRICE</a:t>
            </a:r>
          </a:p>
        </p:txBody>
      </p:sp>
      <p:sp>
        <p:nvSpPr>
          <p:cNvPr id="24" name="TextBox 23"/>
          <p:cNvSpPr txBox="1"/>
          <p:nvPr/>
        </p:nvSpPr>
        <p:spPr>
          <a:xfrm>
            <a:off x="6382512" y="1078992"/>
            <a:ext cx="2578608" cy="365760"/>
          </a:xfrm>
          <a:prstGeom prst="rect">
            <a:avLst/>
          </a:prstGeom>
          <a:noFill/>
        </p:spPr>
        <p:txBody>
          <a:bodyPr wrap="square">
            <a:spAutoFit/>
          </a:bodyPr>
          <a:lstStyle/>
          <a:p>
            <a:pPr algn="l"/>
            <a:r>
              <a:rPr sz="2400" b="1">
                <a:solidFill>
                  <a:srgbClr val="122A4A"/>
                </a:solidFill>
                <a:latin typeface="Calibri"/>
              </a:rPr>
              <a:t>R5–8 sachet</a:t>
            </a:r>
          </a:p>
        </p:txBody>
      </p:sp>
      <p:sp>
        <p:nvSpPr>
          <p:cNvPr id="25" name="TextBox 24"/>
          <p:cNvSpPr txBox="1"/>
          <p:nvPr/>
        </p:nvSpPr>
        <p:spPr>
          <a:xfrm>
            <a:off x="6382512" y="1444752"/>
            <a:ext cx="2578608" cy="256032"/>
          </a:xfrm>
          <a:prstGeom prst="rect">
            <a:avLst/>
          </a:prstGeom>
          <a:noFill/>
        </p:spPr>
        <p:txBody>
          <a:bodyPr wrap="square">
            <a:spAutoFit/>
          </a:bodyPr>
          <a:lstStyle/>
          <a:p>
            <a:pPr algn="l"/>
            <a:r>
              <a:rPr sz="1200" b="0">
                <a:solidFill>
                  <a:srgbClr val="111111"/>
                </a:solidFill>
                <a:latin typeface="Calibri"/>
              </a:rPr>
              <a:t>86% of noodles value</a:t>
            </a:r>
          </a:p>
        </p:txBody>
      </p:sp>
      <p:sp>
        <p:nvSpPr>
          <p:cNvPr id="26" name="Rectangle 25"/>
          <p:cNvSpPr/>
          <p:nvPr/>
        </p:nvSpPr>
        <p:spPr>
          <a:xfrm>
            <a:off x="9125712" y="786384"/>
            <a:ext cx="2706624" cy="877824"/>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25712" y="786384"/>
            <a:ext cx="82296" cy="877824"/>
          </a:xfrm>
          <a:prstGeom prst="rect">
            <a:avLst/>
          </a:prstGeom>
          <a:solidFill>
            <a:srgbClr val="B0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08592" y="859536"/>
            <a:ext cx="2450592" cy="219456"/>
          </a:xfrm>
          <a:prstGeom prst="rect">
            <a:avLst/>
          </a:prstGeom>
          <a:noFill/>
        </p:spPr>
        <p:txBody>
          <a:bodyPr wrap="square">
            <a:spAutoFit/>
          </a:bodyPr>
          <a:lstStyle/>
          <a:p>
            <a:pPr algn="l"/>
            <a:r>
              <a:rPr sz="1100" b="1">
                <a:solidFill>
                  <a:srgbClr val="3D4A55"/>
                </a:solidFill>
                <a:latin typeface="Calibri"/>
              </a:rPr>
              <a:t>UNILEVER (JUN)</a:t>
            </a:r>
          </a:p>
        </p:txBody>
      </p:sp>
      <p:sp>
        <p:nvSpPr>
          <p:cNvPr id="29" name="TextBox 28"/>
          <p:cNvSpPr txBox="1"/>
          <p:nvPr/>
        </p:nvSpPr>
        <p:spPr>
          <a:xfrm>
            <a:off x="9308592" y="1078992"/>
            <a:ext cx="2450592" cy="365760"/>
          </a:xfrm>
          <a:prstGeom prst="rect">
            <a:avLst/>
          </a:prstGeom>
          <a:noFill/>
        </p:spPr>
        <p:txBody>
          <a:bodyPr wrap="square">
            <a:spAutoFit/>
          </a:bodyPr>
          <a:lstStyle/>
          <a:p>
            <a:pPr algn="l"/>
            <a:r>
              <a:rPr sz="2400" b="1">
                <a:solidFill>
                  <a:srgbClr val="122A4A"/>
                </a:solidFill>
                <a:latin typeface="Calibri"/>
              </a:rPr>
              <a:t>0.56% share</a:t>
            </a:r>
          </a:p>
        </p:txBody>
      </p:sp>
      <p:sp>
        <p:nvSpPr>
          <p:cNvPr id="30" name="TextBox 29"/>
          <p:cNvSpPr txBox="1"/>
          <p:nvPr/>
        </p:nvSpPr>
        <p:spPr>
          <a:xfrm>
            <a:off x="9308592" y="1444752"/>
            <a:ext cx="2450592" cy="256032"/>
          </a:xfrm>
          <a:prstGeom prst="rect">
            <a:avLst/>
          </a:prstGeom>
          <a:noFill/>
        </p:spPr>
        <p:txBody>
          <a:bodyPr wrap="square">
            <a:spAutoFit/>
          </a:bodyPr>
          <a:lstStyle/>
          <a:p>
            <a:pPr algn="l"/>
            <a:r>
              <a:rPr sz="1200" b="0">
                <a:solidFill>
                  <a:srgbClr val="111111"/>
                </a:solidFill>
                <a:latin typeface="Calibri"/>
              </a:rPr>
              <a:t>R1.24m  ·  3 Pasta Pots</a:t>
            </a:r>
          </a:p>
        </p:txBody>
      </p:sp>
      <p:sp>
        <p:nvSpPr>
          <p:cNvPr id="31" name="TextBox 30"/>
          <p:cNvSpPr txBox="1"/>
          <p:nvPr/>
        </p:nvSpPr>
        <p:spPr>
          <a:xfrm>
            <a:off x="347472" y="1792224"/>
            <a:ext cx="5760720" cy="292608"/>
          </a:xfrm>
          <a:prstGeom prst="rect">
            <a:avLst/>
          </a:prstGeom>
          <a:noFill/>
        </p:spPr>
        <p:txBody>
          <a:bodyPr wrap="square">
            <a:spAutoFit/>
          </a:bodyPr>
          <a:lstStyle/>
          <a:p>
            <a:pPr algn="l"/>
            <a:r>
              <a:rPr sz="1600" b="1">
                <a:solidFill>
                  <a:srgbClr val="122A4A"/>
                </a:solidFill>
                <a:latin typeface="Calibri"/>
              </a:rPr>
              <a:t>Who is winning and losing</a:t>
            </a:r>
          </a:p>
        </p:txBody>
      </p:sp>
      <p:pic>
        <p:nvPicPr>
          <p:cNvPr id="32" name="Picture 31" descr="data_brands.png"/>
          <p:cNvPicPr>
            <a:picLocks noChangeAspect="1"/>
          </p:cNvPicPr>
          <p:nvPr/>
        </p:nvPicPr>
        <p:blipFill>
          <a:blip r:embed="rId3"/>
          <a:stretch>
            <a:fillRect/>
          </a:stretch>
        </p:blipFill>
        <p:spPr>
          <a:xfrm>
            <a:off x="201168" y="2395728"/>
            <a:ext cx="5852160" cy="1995055"/>
          </a:xfrm>
          <a:prstGeom prst="rect">
            <a:avLst/>
          </a:prstGeom>
        </p:spPr>
      </p:pic>
      <p:sp>
        <p:nvSpPr>
          <p:cNvPr id="33" name="TextBox 32"/>
          <p:cNvSpPr txBox="1"/>
          <p:nvPr/>
        </p:nvSpPr>
        <p:spPr>
          <a:xfrm>
            <a:off x="6217920" y="1792224"/>
            <a:ext cx="5577840" cy="292608"/>
          </a:xfrm>
          <a:prstGeom prst="rect">
            <a:avLst/>
          </a:prstGeom>
          <a:noFill/>
        </p:spPr>
        <p:txBody>
          <a:bodyPr wrap="square">
            <a:spAutoFit/>
          </a:bodyPr>
          <a:lstStyle/>
          <a:p>
            <a:pPr algn="l"/>
            <a:r>
              <a:rPr sz="1600" b="1">
                <a:solidFill>
                  <a:srgbClr val="122A4A"/>
                </a:solidFill>
                <a:latin typeface="Calibri"/>
              </a:rPr>
              <a:t>12-month vs June scorecard</a:t>
            </a:r>
          </a:p>
        </p:txBody>
      </p:sp>
      <p:graphicFrame>
        <p:nvGraphicFramePr>
          <p:cNvPr id="34" name="Table 33"/>
          <p:cNvGraphicFramePr>
            <a:graphicFrameLocks noGrp="1"/>
          </p:cNvGraphicFramePr>
          <p:nvPr/>
        </p:nvGraphicFramePr>
        <p:xfrm>
          <a:off x="6217920" y="2395728"/>
          <a:ext cx="5623560" cy="1874519"/>
        </p:xfrm>
        <a:graphic>
          <a:graphicData uri="http://schemas.openxmlformats.org/drawingml/2006/table">
            <a:tbl>
              <a:tblPr firstRow="1" bandRow="1">
                <a:tableStyleId>{5C22544A-7EE6-4342-B048-85BDC9FD1C3A}</a:tableStyleId>
              </a:tblPr>
              <a:tblGrid>
                <a:gridCol w="1234440"/>
                <a:gridCol w="777240"/>
                <a:gridCol w="777240"/>
                <a:gridCol w="868680"/>
                <a:gridCol w="960120"/>
                <a:gridCol w="1005840"/>
              </a:tblGrid>
              <a:tr h="267788">
                <a:tc>
                  <a:txBody>
                    <a:bodyPr/>
                    <a:lstStyle/>
                    <a:p>
                      <a:pPr algn="l"/>
                      <a:r>
                        <a:rPr sz="1300" b="1">
                          <a:solidFill>
                            <a:srgbClr val="FFFFFF"/>
                          </a:solidFill>
                          <a:latin typeface="Calibri"/>
                        </a:rPr>
                        <a:t>Brand</a:t>
                      </a:r>
                    </a:p>
                  </a:txBody>
                  <a:tcPr>
                    <a:solidFill>
                      <a:srgbClr val="122A4A"/>
                    </a:solidFill>
                  </a:tcPr>
                </a:tc>
                <a:tc>
                  <a:txBody>
                    <a:bodyPr/>
                    <a:lstStyle/>
                    <a:p>
                      <a:pPr algn="r"/>
                      <a:r>
                        <a:rPr sz="1300" b="1">
                          <a:solidFill>
                            <a:srgbClr val="FFFFFF"/>
                          </a:solidFill>
                          <a:latin typeface="Calibri"/>
                        </a:rPr>
                        <a:t>12m</a:t>
                      </a:r>
                    </a:p>
                  </a:txBody>
                  <a:tcPr>
                    <a:solidFill>
                      <a:srgbClr val="122A4A"/>
                    </a:solidFill>
                  </a:tcPr>
                </a:tc>
                <a:tc>
                  <a:txBody>
                    <a:bodyPr/>
                    <a:lstStyle/>
                    <a:p>
                      <a:pPr algn="r"/>
                      <a:r>
                        <a:rPr sz="1300" b="1">
                          <a:solidFill>
                            <a:srgbClr val="FFFFFF"/>
                          </a:solidFill>
                          <a:latin typeface="Calibri"/>
                        </a:rPr>
                        <a:t>Jun</a:t>
                      </a:r>
                    </a:p>
                  </a:txBody>
                  <a:tcPr>
                    <a:solidFill>
                      <a:srgbClr val="122A4A"/>
                    </a:solidFill>
                  </a:tcPr>
                </a:tc>
                <a:tc>
                  <a:txBody>
                    <a:bodyPr/>
                    <a:lstStyle/>
                    <a:p>
                      <a:pPr algn="r"/>
                      <a:r>
                        <a:rPr sz="1300" b="1">
                          <a:solidFill>
                            <a:srgbClr val="FFFFFF"/>
                          </a:solidFill>
                          <a:latin typeface="Calibri"/>
                        </a:rPr>
                        <a:t>vs YA</a:t>
                      </a:r>
                    </a:p>
                  </a:txBody>
                  <a:tcPr>
                    <a:solidFill>
                      <a:srgbClr val="122A4A"/>
                    </a:solidFill>
                  </a:tcPr>
                </a:tc>
                <a:tc>
                  <a:txBody>
                    <a:bodyPr/>
                    <a:lstStyle/>
                    <a:p>
                      <a:pPr algn="r"/>
                      <a:r>
                        <a:rPr sz="1300" b="1">
                          <a:solidFill>
                            <a:srgbClr val="FFFFFF"/>
                          </a:solidFill>
                          <a:latin typeface="Calibri"/>
                        </a:rPr>
                        <a:t>Value</a:t>
                      </a:r>
                    </a:p>
                  </a:txBody>
                  <a:tcPr>
                    <a:solidFill>
                      <a:srgbClr val="122A4A"/>
                    </a:solidFill>
                  </a:tcPr>
                </a:tc>
                <a:tc>
                  <a:txBody>
                    <a:bodyPr/>
                    <a:lstStyle/>
                    <a:p>
                      <a:pPr algn="r"/>
                      <a:r>
                        <a:rPr sz="1300" b="1">
                          <a:solidFill>
                            <a:srgbClr val="FFFFFF"/>
                          </a:solidFill>
                          <a:latin typeface="Calibri"/>
                        </a:rPr>
                        <a:t>R/kg</a:t>
                      </a:r>
                    </a:p>
                  </a:txBody>
                  <a:tcPr>
                    <a:solidFill>
                      <a:srgbClr val="122A4A"/>
                    </a:solidFill>
                  </a:tcPr>
                </a:tc>
              </a:tr>
              <a:tr h="267788">
                <a:tc>
                  <a:txBody>
                    <a:bodyPr/>
                    <a:lstStyle/>
                    <a:p>
                      <a:pPr algn="l"/>
                      <a:r>
                        <a:rPr sz="1300" b="1">
                          <a:solidFill>
                            <a:srgbClr val="111111"/>
                          </a:solidFill>
                          <a:latin typeface="Calibri"/>
                        </a:rPr>
                        <a:t>Kellogg's</a:t>
                      </a:r>
                    </a:p>
                  </a:txBody>
                  <a:tcPr>
                    <a:solidFill>
                      <a:srgbClr val="EEF2F6"/>
                    </a:solidFill>
                  </a:tcPr>
                </a:tc>
                <a:tc>
                  <a:txBody>
                    <a:bodyPr/>
                    <a:lstStyle/>
                    <a:p>
                      <a:pPr algn="r"/>
                      <a:r>
                        <a:rPr sz="1300" b="0">
                          <a:solidFill>
                            <a:srgbClr val="111111"/>
                          </a:solidFill>
                          <a:latin typeface="Calibri"/>
                        </a:rPr>
                        <a:t>45.6%</a:t>
                      </a:r>
                    </a:p>
                  </a:txBody>
                  <a:tcPr>
                    <a:solidFill>
                      <a:srgbClr val="EEF2F6"/>
                    </a:solidFill>
                  </a:tcPr>
                </a:tc>
                <a:tc>
                  <a:txBody>
                    <a:bodyPr/>
                    <a:lstStyle/>
                    <a:p>
                      <a:pPr algn="r"/>
                      <a:r>
                        <a:rPr sz="1300" b="0">
                          <a:solidFill>
                            <a:srgbClr val="111111"/>
                          </a:solidFill>
                          <a:latin typeface="Calibri"/>
                        </a:rPr>
                        <a:t>44.3%</a:t>
                      </a:r>
                    </a:p>
                  </a:txBody>
                  <a:tcPr>
                    <a:solidFill>
                      <a:srgbClr val="EEF2F6"/>
                    </a:solidFill>
                  </a:tcPr>
                </a:tc>
                <a:tc>
                  <a:txBody>
                    <a:bodyPr/>
                    <a:lstStyle/>
                    <a:p>
                      <a:pPr algn="r"/>
                      <a:r>
                        <a:rPr sz="1300" b="0">
                          <a:solidFill>
                            <a:srgbClr val="1B7A3A"/>
                          </a:solidFill>
                          <a:latin typeface="Calibri"/>
                        </a:rPr>
                        <a:t>+2.0pp</a:t>
                      </a:r>
                    </a:p>
                  </a:txBody>
                  <a:tcPr>
                    <a:solidFill>
                      <a:srgbClr val="EEF2F6"/>
                    </a:solidFill>
                  </a:tcPr>
                </a:tc>
                <a:tc>
                  <a:txBody>
                    <a:bodyPr/>
                    <a:lstStyle/>
                    <a:p>
                      <a:pPr algn="r"/>
                      <a:r>
                        <a:rPr sz="1300" b="0">
                          <a:solidFill>
                            <a:srgbClr val="1B7A3A"/>
                          </a:solidFill>
                          <a:latin typeface="Calibri"/>
                        </a:rPr>
                        <a:t>+13.1%</a:t>
                      </a:r>
                    </a:p>
                  </a:txBody>
                  <a:tcPr>
                    <a:solidFill>
                      <a:srgbClr val="EEF2F6"/>
                    </a:solidFill>
                  </a:tcPr>
                </a:tc>
                <a:tc>
                  <a:txBody>
                    <a:bodyPr/>
                    <a:lstStyle/>
                    <a:p>
                      <a:pPr algn="r"/>
                      <a:r>
                        <a:rPr sz="1300" b="0">
                          <a:solidFill>
                            <a:srgbClr val="111111"/>
                          </a:solidFill>
                          <a:latin typeface="Calibri"/>
                        </a:rPr>
                        <a:t>R87</a:t>
                      </a:r>
                    </a:p>
                  </a:txBody>
                  <a:tcPr>
                    <a:solidFill>
                      <a:srgbClr val="EEF2F6"/>
                    </a:solidFill>
                  </a:tcPr>
                </a:tc>
              </a:tr>
              <a:tr h="267788">
                <a:tc>
                  <a:txBody>
                    <a:bodyPr/>
                    <a:lstStyle/>
                    <a:p>
                      <a:pPr algn="l"/>
                      <a:r>
                        <a:rPr sz="1300" b="1">
                          <a:solidFill>
                            <a:srgbClr val="111111"/>
                          </a:solidFill>
                          <a:latin typeface="Calibri"/>
                        </a:rPr>
                        <a:t>Maggi</a:t>
                      </a:r>
                    </a:p>
                  </a:txBody>
                  <a:tcPr>
                    <a:solidFill>
                      <a:srgbClr val="FFFFFF"/>
                    </a:solidFill>
                  </a:tcPr>
                </a:tc>
                <a:tc>
                  <a:txBody>
                    <a:bodyPr/>
                    <a:lstStyle/>
                    <a:p>
                      <a:pPr algn="r"/>
                      <a:r>
                        <a:rPr sz="1300" b="0">
                          <a:solidFill>
                            <a:srgbClr val="111111"/>
                          </a:solidFill>
                          <a:latin typeface="Calibri"/>
                        </a:rPr>
                        <a:t>28.7%</a:t>
                      </a:r>
                    </a:p>
                  </a:txBody>
                  <a:tcPr>
                    <a:solidFill>
                      <a:srgbClr val="FFFFFF"/>
                    </a:solidFill>
                  </a:tcPr>
                </a:tc>
                <a:tc>
                  <a:txBody>
                    <a:bodyPr/>
                    <a:lstStyle/>
                    <a:p>
                      <a:pPr algn="r"/>
                      <a:r>
                        <a:rPr sz="1300" b="0">
                          <a:solidFill>
                            <a:srgbClr val="111111"/>
                          </a:solidFill>
                          <a:latin typeface="Calibri"/>
                        </a:rPr>
                        <a:t>28.2%</a:t>
                      </a:r>
                    </a:p>
                  </a:txBody>
                  <a:tcPr>
                    <a:solidFill>
                      <a:srgbClr val="FFFFFF"/>
                    </a:solidFill>
                  </a:tcPr>
                </a:tc>
                <a:tc>
                  <a:txBody>
                    <a:bodyPr/>
                    <a:lstStyle/>
                    <a:p>
                      <a:pPr algn="r"/>
                      <a:r>
                        <a:rPr sz="1300" b="0">
                          <a:solidFill>
                            <a:srgbClr val="B02828"/>
                          </a:solidFill>
                          <a:latin typeface="Calibri"/>
                        </a:rPr>
                        <a:t>-5.1pp</a:t>
                      </a:r>
                    </a:p>
                  </a:txBody>
                  <a:tcPr>
                    <a:solidFill>
                      <a:srgbClr val="FFFFFF"/>
                    </a:solidFill>
                  </a:tcPr>
                </a:tc>
                <a:tc>
                  <a:txBody>
                    <a:bodyPr/>
                    <a:lstStyle/>
                    <a:p>
                      <a:pPr algn="r"/>
                      <a:r>
                        <a:rPr sz="1300" b="0">
                          <a:solidFill>
                            <a:srgbClr val="B02828"/>
                          </a:solidFill>
                          <a:latin typeface="Calibri"/>
                        </a:rPr>
                        <a:t>-8.2%</a:t>
                      </a:r>
                    </a:p>
                  </a:txBody>
                  <a:tcPr>
                    <a:solidFill>
                      <a:srgbClr val="FFFFFF"/>
                    </a:solidFill>
                  </a:tcPr>
                </a:tc>
                <a:tc>
                  <a:txBody>
                    <a:bodyPr/>
                    <a:lstStyle/>
                    <a:p>
                      <a:pPr algn="r"/>
                      <a:r>
                        <a:rPr sz="1300" b="0">
                          <a:solidFill>
                            <a:srgbClr val="111111"/>
                          </a:solidFill>
                          <a:latin typeface="Calibri"/>
                        </a:rPr>
                        <a:t>R100</a:t>
                      </a:r>
                    </a:p>
                  </a:txBody>
                  <a:tcPr>
                    <a:solidFill>
                      <a:srgbClr val="FFFFFF"/>
                    </a:solidFill>
                  </a:tcPr>
                </a:tc>
              </a:tr>
              <a:tr h="267788">
                <a:tc>
                  <a:txBody>
                    <a:bodyPr/>
                    <a:lstStyle/>
                    <a:p>
                      <a:pPr algn="l"/>
                      <a:r>
                        <a:rPr sz="1300" b="1">
                          <a:solidFill>
                            <a:srgbClr val="111111"/>
                          </a:solidFill>
                          <a:latin typeface="Calibri"/>
                        </a:rPr>
                        <a:t>Indomie</a:t>
                      </a:r>
                    </a:p>
                  </a:txBody>
                  <a:tcPr>
                    <a:solidFill>
                      <a:srgbClr val="EEF2F6"/>
                    </a:solidFill>
                  </a:tcPr>
                </a:tc>
                <a:tc>
                  <a:txBody>
                    <a:bodyPr/>
                    <a:lstStyle/>
                    <a:p>
                      <a:pPr algn="r"/>
                      <a:r>
                        <a:rPr sz="1300" b="0">
                          <a:solidFill>
                            <a:srgbClr val="111111"/>
                          </a:solidFill>
                          <a:latin typeface="Calibri"/>
                        </a:rPr>
                        <a:t>6.9%</a:t>
                      </a:r>
                    </a:p>
                  </a:txBody>
                  <a:tcPr>
                    <a:solidFill>
                      <a:srgbClr val="EEF2F6"/>
                    </a:solidFill>
                  </a:tcPr>
                </a:tc>
                <a:tc>
                  <a:txBody>
                    <a:bodyPr/>
                    <a:lstStyle/>
                    <a:p>
                      <a:pPr algn="r"/>
                      <a:r>
                        <a:rPr sz="1300" b="0">
                          <a:solidFill>
                            <a:srgbClr val="111111"/>
                          </a:solidFill>
                          <a:latin typeface="Calibri"/>
                        </a:rPr>
                        <a:t>7.8%</a:t>
                      </a:r>
                    </a:p>
                  </a:txBody>
                  <a:tcPr>
                    <a:solidFill>
                      <a:srgbClr val="EEF2F6"/>
                    </a:solidFill>
                  </a:tcPr>
                </a:tc>
                <a:tc>
                  <a:txBody>
                    <a:bodyPr/>
                    <a:lstStyle/>
                    <a:p>
                      <a:pPr algn="r"/>
                      <a:r>
                        <a:rPr sz="1300" b="0">
                          <a:solidFill>
                            <a:srgbClr val="1B7A3A"/>
                          </a:solidFill>
                          <a:latin typeface="Calibri"/>
                        </a:rPr>
                        <a:t>+2.1pp</a:t>
                      </a:r>
                    </a:p>
                  </a:txBody>
                  <a:tcPr>
                    <a:solidFill>
                      <a:srgbClr val="EEF2F6"/>
                    </a:solidFill>
                  </a:tcPr>
                </a:tc>
                <a:tc>
                  <a:txBody>
                    <a:bodyPr/>
                    <a:lstStyle/>
                    <a:p>
                      <a:pPr algn="r"/>
                      <a:r>
                        <a:rPr sz="1300" b="0">
                          <a:solidFill>
                            <a:srgbClr val="1B7A3A"/>
                          </a:solidFill>
                          <a:latin typeface="Calibri"/>
                        </a:rPr>
                        <a:t>+55.7%</a:t>
                      </a:r>
                    </a:p>
                  </a:txBody>
                  <a:tcPr>
                    <a:solidFill>
                      <a:srgbClr val="EEF2F6"/>
                    </a:solidFill>
                  </a:tcPr>
                </a:tc>
                <a:tc>
                  <a:txBody>
                    <a:bodyPr/>
                    <a:lstStyle/>
                    <a:p>
                      <a:pPr algn="r"/>
                      <a:r>
                        <a:rPr sz="1300" b="0">
                          <a:solidFill>
                            <a:srgbClr val="111111"/>
                          </a:solidFill>
                          <a:latin typeface="Calibri"/>
                        </a:rPr>
                        <a:t>R99</a:t>
                      </a:r>
                    </a:p>
                  </a:txBody>
                  <a:tcPr>
                    <a:solidFill>
                      <a:srgbClr val="EEF2F6"/>
                    </a:solidFill>
                  </a:tcPr>
                </a:tc>
              </a:tr>
              <a:tr h="267788">
                <a:tc>
                  <a:txBody>
                    <a:bodyPr/>
                    <a:lstStyle/>
                    <a:p>
                      <a:pPr algn="l"/>
                      <a:r>
                        <a:rPr sz="1300" b="1">
                          <a:solidFill>
                            <a:srgbClr val="111111"/>
                          </a:solidFill>
                          <a:latin typeface="Calibri"/>
                        </a:rPr>
                        <a:t>Roka</a:t>
                      </a:r>
                    </a:p>
                  </a:txBody>
                  <a:tcPr>
                    <a:solidFill>
                      <a:srgbClr val="FFFFFF"/>
                    </a:solidFill>
                  </a:tcPr>
                </a:tc>
                <a:tc>
                  <a:txBody>
                    <a:bodyPr/>
                    <a:lstStyle/>
                    <a:p>
                      <a:pPr algn="r"/>
                      <a:r>
                        <a:rPr sz="1300" b="0">
                          <a:solidFill>
                            <a:srgbClr val="111111"/>
                          </a:solidFill>
                          <a:latin typeface="Calibri"/>
                        </a:rPr>
                        <a:t>6.4%</a:t>
                      </a:r>
                    </a:p>
                  </a:txBody>
                  <a:tcPr>
                    <a:solidFill>
                      <a:srgbClr val="FFFFFF"/>
                    </a:solidFill>
                  </a:tcPr>
                </a:tc>
                <a:tc>
                  <a:txBody>
                    <a:bodyPr/>
                    <a:lstStyle/>
                    <a:p>
                      <a:pPr algn="r"/>
                      <a:r>
                        <a:rPr sz="1300" b="0">
                          <a:solidFill>
                            <a:srgbClr val="111111"/>
                          </a:solidFill>
                          <a:latin typeface="Calibri"/>
                        </a:rPr>
                        <a:t>5.1%</a:t>
                      </a:r>
                    </a:p>
                  </a:txBody>
                  <a:tcPr>
                    <a:solidFill>
                      <a:srgbClr val="FFFFFF"/>
                    </a:solidFill>
                  </a:tcPr>
                </a:tc>
                <a:tc>
                  <a:txBody>
                    <a:bodyPr/>
                    <a:lstStyle/>
                    <a:p>
                      <a:pPr algn="r"/>
                      <a:r>
                        <a:rPr sz="1300" b="0">
                          <a:solidFill>
                            <a:srgbClr val="B02828"/>
                          </a:solidFill>
                          <a:latin typeface="Calibri"/>
                        </a:rPr>
                        <a:t>-0.4pp</a:t>
                      </a:r>
                    </a:p>
                  </a:txBody>
                  <a:tcPr>
                    <a:solidFill>
                      <a:srgbClr val="FFFFFF"/>
                    </a:solidFill>
                  </a:tcPr>
                </a:tc>
                <a:tc>
                  <a:txBody>
                    <a:bodyPr/>
                    <a:lstStyle/>
                    <a:p>
                      <a:pPr algn="r"/>
                      <a:r>
                        <a:rPr sz="1300" b="0">
                          <a:solidFill>
                            <a:srgbClr val="1B7A3A"/>
                          </a:solidFill>
                          <a:latin typeface="Calibri"/>
                        </a:rPr>
                        <a:t>+1.5%</a:t>
                      </a:r>
                    </a:p>
                  </a:txBody>
                  <a:tcPr>
                    <a:solidFill>
                      <a:srgbClr val="FFFFFF"/>
                    </a:solidFill>
                  </a:tcPr>
                </a:tc>
                <a:tc>
                  <a:txBody>
                    <a:bodyPr/>
                    <a:lstStyle/>
                    <a:p>
                      <a:pPr algn="r"/>
                      <a:r>
                        <a:rPr sz="1300" b="0">
                          <a:solidFill>
                            <a:srgbClr val="111111"/>
                          </a:solidFill>
                          <a:latin typeface="Calibri"/>
                        </a:rPr>
                        <a:t>R69</a:t>
                      </a:r>
                    </a:p>
                  </a:txBody>
                  <a:tcPr>
                    <a:solidFill>
                      <a:srgbClr val="FFFFFF"/>
                    </a:solidFill>
                  </a:tcPr>
                </a:tc>
              </a:tr>
              <a:tr h="267788">
                <a:tc>
                  <a:txBody>
                    <a:bodyPr/>
                    <a:lstStyle/>
                    <a:p>
                      <a:pPr algn="l"/>
                      <a:r>
                        <a:rPr sz="1300" b="1">
                          <a:solidFill>
                            <a:srgbClr val="111111"/>
                          </a:solidFill>
                          <a:latin typeface="Calibri"/>
                        </a:rPr>
                        <a:t>Samyang</a:t>
                      </a:r>
                    </a:p>
                  </a:txBody>
                  <a:tcPr>
                    <a:solidFill>
                      <a:srgbClr val="EEF2F6"/>
                    </a:solidFill>
                  </a:tcPr>
                </a:tc>
                <a:tc>
                  <a:txBody>
                    <a:bodyPr/>
                    <a:lstStyle/>
                    <a:p>
                      <a:pPr algn="r"/>
                      <a:r>
                        <a:rPr sz="1300" b="0">
                          <a:solidFill>
                            <a:srgbClr val="111111"/>
                          </a:solidFill>
                          <a:latin typeface="Calibri"/>
                        </a:rPr>
                        <a:t>3.4%</a:t>
                      </a:r>
                    </a:p>
                  </a:txBody>
                  <a:tcPr>
                    <a:solidFill>
                      <a:srgbClr val="EEF2F6"/>
                    </a:solidFill>
                  </a:tcPr>
                </a:tc>
                <a:tc>
                  <a:txBody>
                    <a:bodyPr/>
                    <a:lstStyle/>
                    <a:p>
                      <a:pPr algn="r"/>
                      <a:r>
                        <a:rPr sz="1300" b="0">
                          <a:solidFill>
                            <a:srgbClr val="111111"/>
                          </a:solidFill>
                          <a:latin typeface="Calibri"/>
                        </a:rPr>
                        <a:t>3.3%</a:t>
                      </a:r>
                    </a:p>
                  </a:txBody>
                  <a:tcPr>
                    <a:solidFill>
                      <a:srgbClr val="EEF2F6"/>
                    </a:solidFill>
                  </a:tcPr>
                </a:tc>
                <a:tc>
                  <a:txBody>
                    <a:bodyPr/>
                    <a:lstStyle/>
                    <a:p>
                      <a:pPr algn="r"/>
                      <a:r>
                        <a:rPr sz="1300" b="0">
                          <a:solidFill>
                            <a:srgbClr val="1B7A3A"/>
                          </a:solidFill>
                          <a:latin typeface="Calibri"/>
                        </a:rPr>
                        <a:t>+1.8pp</a:t>
                      </a:r>
                    </a:p>
                  </a:txBody>
                  <a:tcPr>
                    <a:solidFill>
                      <a:srgbClr val="EEF2F6"/>
                    </a:solidFill>
                  </a:tcPr>
                </a:tc>
                <a:tc>
                  <a:txBody>
                    <a:bodyPr/>
                    <a:lstStyle/>
                    <a:p>
                      <a:pPr algn="r"/>
                      <a:r>
                        <a:rPr sz="1300" b="0">
                          <a:solidFill>
                            <a:srgbClr val="1B7A3A"/>
                          </a:solidFill>
                          <a:latin typeface="Calibri"/>
                        </a:rPr>
                        <a:t>+122.3%</a:t>
                      </a:r>
                    </a:p>
                  </a:txBody>
                  <a:tcPr>
                    <a:solidFill>
                      <a:srgbClr val="EEF2F6"/>
                    </a:solidFill>
                  </a:tcPr>
                </a:tc>
                <a:tc>
                  <a:txBody>
                    <a:bodyPr/>
                    <a:lstStyle/>
                    <a:p>
                      <a:pPr algn="r"/>
                      <a:r>
                        <a:rPr sz="1300" b="0">
                          <a:solidFill>
                            <a:srgbClr val="111111"/>
                          </a:solidFill>
                          <a:latin typeface="Calibri"/>
                        </a:rPr>
                        <a:t>R302</a:t>
                      </a:r>
                    </a:p>
                  </a:txBody>
                  <a:tcPr>
                    <a:solidFill>
                      <a:srgbClr val="EEF2F6"/>
                    </a:solidFill>
                  </a:tcPr>
                </a:tc>
              </a:tr>
              <a:tr h="267791">
                <a:tc>
                  <a:txBody>
                    <a:bodyPr/>
                    <a:lstStyle/>
                    <a:p>
                      <a:pPr algn="l"/>
                      <a:r>
                        <a:rPr sz="1300" b="1">
                          <a:solidFill>
                            <a:srgbClr val="111111"/>
                          </a:solidFill>
                          <a:latin typeface="Calibri"/>
                        </a:rPr>
                        <a:t>Knorr</a:t>
                      </a:r>
                    </a:p>
                  </a:txBody>
                  <a:tcPr>
                    <a:solidFill>
                      <a:srgbClr val="FFFFFF"/>
                    </a:solidFill>
                  </a:tcPr>
                </a:tc>
                <a:tc>
                  <a:txBody>
                    <a:bodyPr/>
                    <a:lstStyle/>
                    <a:p>
                      <a:pPr algn="r"/>
                      <a:r>
                        <a:rPr sz="1300" b="0">
                          <a:solidFill>
                            <a:srgbClr val="111111"/>
                          </a:solidFill>
                          <a:latin typeface="Calibri"/>
                        </a:rPr>
                        <a:t>0.1%</a:t>
                      </a:r>
                    </a:p>
                  </a:txBody>
                  <a:tcPr>
                    <a:solidFill>
                      <a:srgbClr val="FFFFFF"/>
                    </a:solidFill>
                  </a:tcPr>
                </a:tc>
                <a:tc>
                  <a:txBody>
                    <a:bodyPr/>
                    <a:lstStyle/>
                    <a:p>
                      <a:pPr algn="r"/>
                      <a:r>
                        <a:rPr sz="1300" b="0">
                          <a:solidFill>
                            <a:srgbClr val="111111"/>
                          </a:solidFill>
                          <a:latin typeface="Calibri"/>
                        </a:rPr>
                        <a:t>0.6%</a:t>
                      </a:r>
                    </a:p>
                  </a:txBody>
                  <a:tcPr>
                    <a:solidFill>
                      <a:srgbClr val="FFFFFF"/>
                    </a:solidFill>
                  </a:tcPr>
                </a:tc>
                <a:tc>
                  <a:txBody>
                    <a:bodyPr/>
                    <a:lstStyle/>
                    <a:p>
                      <a:pPr algn="r"/>
                      <a:r>
                        <a:rPr sz="1300" b="0">
                          <a:solidFill>
                            <a:srgbClr val="1B7A3A"/>
                          </a:solidFill>
                          <a:latin typeface="Calibri"/>
                        </a:rPr>
                        <a:t>+0.1pp</a:t>
                      </a:r>
                    </a:p>
                  </a:txBody>
                  <a:tcPr>
                    <a:solidFill>
                      <a:srgbClr val="FFFFFF"/>
                    </a:solidFill>
                  </a:tcPr>
                </a:tc>
                <a:tc>
                  <a:txBody>
                    <a:bodyPr/>
                    <a:lstStyle/>
                    <a:p>
                      <a:pPr algn="r"/>
                      <a:r>
                        <a:rPr sz="1300" b="0">
                          <a:solidFill>
                            <a:srgbClr val="111111"/>
                          </a:solidFill>
                          <a:latin typeface="Calibri"/>
                        </a:rPr>
                        <a:t>n/a</a:t>
                      </a:r>
                    </a:p>
                  </a:txBody>
                  <a:tcPr>
                    <a:solidFill>
                      <a:srgbClr val="FFFFFF"/>
                    </a:solidFill>
                  </a:tcPr>
                </a:tc>
                <a:tc>
                  <a:txBody>
                    <a:bodyPr/>
                    <a:lstStyle/>
                    <a:p>
                      <a:pPr algn="r"/>
                      <a:r>
                        <a:rPr sz="1300" b="0">
                          <a:solidFill>
                            <a:srgbClr val="111111"/>
                          </a:solidFill>
                          <a:latin typeface="Calibri"/>
                        </a:rPr>
                        <a:t>R790</a:t>
                      </a:r>
                    </a:p>
                  </a:txBody>
                  <a:tcPr>
                    <a:solidFill>
                      <a:srgbClr val="FFFFFF"/>
                    </a:solidFill>
                  </a:tcPr>
                </a:tc>
              </a:tr>
            </a:tbl>
          </a:graphicData>
        </a:graphic>
      </p:graphicFrame>
      <p:sp>
        <p:nvSpPr>
          <p:cNvPr id="35" name="TextBox 34"/>
          <p:cNvSpPr txBox="1"/>
          <p:nvPr/>
        </p:nvSpPr>
        <p:spPr>
          <a:xfrm>
            <a:off x="347472" y="4572000"/>
            <a:ext cx="5760720" cy="292608"/>
          </a:xfrm>
          <a:prstGeom prst="rect">
            <a:avLst/>
          </a:prstGeom>
          <a:noFill/>
        </p:spPr>
        <p:txBody>
          <a:bodyPr wrap="square">
            <a:spAutoFit/>
          </a:bodyPr>
          <a:lstStyle/>
          <a:p>
            <a:pPr algn="l"/>
            <a:r>
              <a:rPr sz="1600" b="1">
                <a:solidFill>
                  <a:srgbClr val="122A4A"/>
                </a:solidFill>
                <a:latin typeface="Calibri"/>
              </a:rPr>
              <a:t>Price ladder (typical unit)</a:t>
            </a:r>
          </a:p>
        </p:txBody>
      </p:sp>
      <p:sp>
        <p:nvSpPr>
          <p:cNvPr id="36" name="Rectangle 35"/>
          <p:cNvSpPr/>
          <p:nvPr/>
        </p:nvSpPr>
        <p:spPr>
          <a:xfrm>
            <a:off x="347472" y="4974336"/>
            <a:ext cx="2788920" cy="676656"/>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47472" y="4974336"/>
            <a:ext cx="82296" cy="676656"/>
          </a:xfrm>
          <a:prstGeom prst="rect">
            <a:avLst/>
          </a:prstGeom>
          <a:solidFill>
            <a:srgbClr val="1F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0352" y="5020056"/>
            <a:ext cx="2487168" cy="182880"/>
          </a:xfrm>
          <a:prstGeom prst="rect">
            <a:avLst/>
          </a:prstGeom>
          <a:noFill/>
        </p:spPr>
        <p:txBody>
          <a:bodyPr wrap="square">
            <a:spAutoFit/>
          </a:bodyPr>
          <a:lstStyle/>
          <a:p>
            <a:pPr algn="l"/>
            <a:r>
              <a:rPr sz="1100" b="1">
                <a:solidFill>
                  <a:srgbClr val="3D4A55"/>
                </a:solidFill>
                <a:latin typeface="Calibri"/>
              </a:rPr>
              <a:t>ROKA</a:t>
            </a:r>
          </a:p>
        </p:txBody>
      </p:sp>
      <p:sp>
        <p:nvSpPr>
          <p:cNvPr id="39" name="TextBox 38"/>
          <p:cNvSpPr txBox="1"/>
          <p:nvPr/>
        </p:nvSpPr>
        <p:spPr>
          <a:xfrm>
            <a:off x="530352" y="5193792"/>
            <a:ext cx="2487168" cy="237744"/>
          </a:xfrm>
          <a:prstGeom prst="rect">
            <a:avLst/>
          </a:prstGeom>
          <a:noFill/>
        </p:spPr>
        <p:txBody>
          <a:bodyPr wrap="square">
            <a:spAutoFit/>
          </a:bodyPr>
          <a:lstStyle/>
          <a:p>
            <a:pPr algn="l"/>
            <a:r>
              <a:rPr sz="2000" b="1">
                <a:solidFill>
                  <a:srgbClr val="122A4A"/>
                </a:solidFill>
                <a:latin typeface="Calibri"/>
              </a:rPr>
              <a:t>R5.88</a:t>
            </a:r>
          </a:p>
        </p:txBody>
      </p:sp>
      <p:sp>
        <p:nvSpPr>
          <p:cNvPr id="40" name="TextBox 39"/>
          <p:cNvSpPr txBox="1"/>
          <p:nvPr/>
        </p:nvSpPr>
        <p:spPr>
          <a:xfrm>
            <a:off x="530352" y="5431536"/>
            <a:ext cx="2487168" cy="182880"/>
          </a:xfrm>
          <a:prstGeom prst="rect">
            <a:avLst/>
          </a:prstGeom>
          <a:noFill/>
        </p:spPr>
        <p:txBody>
          <a:bodyPr wrap="square">
            <a:spAutoFit/>
          </a:bodyPr>
          <a:lstStyle/>
          <a:p>
            <a:pPr algn="l"/>
            <a:r>
              <a:rPr sz="1200" b="0">
                <a:solidFill>
                  <a:srgbClr val="111111"/>
                </a:solidFill>
                <a:latin typeface="Calibri"/>
              </a:rPr>
              <a:t>Value sachet</a:t>
            </a:r>
          </a:p>
        </p:txBody>
      </p:sp>
      <p:sp>
        <p:nvSpPr>
          <p:cNvPr id="41" name="Rectangle 40"/>
          <p:cNvSpPr/>
          <p:nvPr/>
        </p:nvSpPr>
        <p:spPr>
          <a:xfrm>
            <a:off x="3273552" y="4974336"/>
            <a:ext cx="2788920" cy="676656"/>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73552" y="4974336"/>
            <a:ext cx="82296" cy="676656"/>
          </a:xfrm>
          <a:prstGeom prst="rect">
            <a:avLst/>
          </a:prstGeom>
          <a:solidFill>
            <a:srgbClr val="1F5F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56432" y="5020056"/>
            <a:ext cx="2487168" cy="182880"/>
          </a:xfrm>
          <a:prstGeom prst="rect">
            <a:avLst/>
          </a:prstGeom>
          <a:noFill/>
        </p:spPr>
        <p:txBody>
          <a:bodyPr wrap="square">
            <a:spAutoFit/>
          </a:bodyPr>
          <a:lstStyle/>
          <a:p>
            <a:pPr algn="l"/>
            <a:r>
              <a:rPr sz="1100" b="1">
                <a:solidFill>
                  <a:srgbClr val="3D4A55"/>
                </a:solidFill>
                <a:latin typeface="Calibri"/>
              </a:rPr>
              <a:t>KELLOGG'S</a:t>
            </a:r>
          </a:p>
        </p:txBody>
      </p:sp>
      <p:sp>
        <p:nvSpPr>
          <p:cNvPr id="44" name="TextBox 43"/>
          <p:cNvSpPr txBox="1"/>
          <p:nvPr/>
        </p:nvSpPr>
        <p:spPr>
          <a:xfrm>
            <a:off x="3456432" y="5193792"/>
            <a:ext cx="2487168" cy="237744"/>
          </a:xfrm>
          <a:prstGeom prst="rect">
            <a:avLst/>
          </a:prstGeom>
          <a:noFill/>
        </p:spPr>
        <p:txBody>
          <a:bodyPr wrap="square">
            <a:spAutoFit/>
          </a:bodyPr>
          <a:lstStyle/>
          <a:p>
            <a:pPr algn="l"/>
            <a:r>
              <a:rPr sz="2000" b="1">
                <a:solidFill>
                  <a:srgbClr val="122A4A"/>
                </a:solidFill>
                <a:latin typeface="Calibri"/>
              </a:rPr>
              <a:t>R6.09</a:t>
            </a:r>
          </a:p>
        </p:txBody>
      </p:sp>
      <p:sp>
        <p:nvSpPr>
          <p:cNvPr id="45" name="TextBox 44"/>
          <p:cNvSpPr txBox="1"/>
          <p:nvPr/>
        </p:nvSpPr>
        <p:spPr>
          <a:xfrm>
            <a:off x="3456432" y="5431536"/>
            <a:ext cx="2487168" cy="182880"/>
          </a:xfrm>
          <a:prstGeom prst="rect">
            <a:avLst/>
          </a:prstGeom>
          <a:noFill/>
        </p:spPr>
        <p:txBody>
          <a:bodyPr wrap="square">
            <a:spAutoFit/>
          </a:bodyPr>
          <a:lstStyle/>
          <a:p>
            <a:pPr algn="l"/>
            <a:r>
              <a:rPr sz="1200" b="0">
                <a:solidFill>
                  <a:srgbClr val="111111"/>
                </a:solidFill>
                <a:latin typeface="Calibri"/>
              </a:rPr>
              <a:t>Maggi R6.79  ·  Indomie R7.90</a:t>
            </a:r>
          </a:p>
        </p:txBody>
      </p:sp>
      <p:sp>
        <p:nvSpPr>
          <p:cNvPr id="46" name="Rectangle 45"/>
          <p:cNvSpPr/>
          <p:nvPr/>
        </p:nvSpPr>
        <p:spPr>
          <a:xfrm>
            <a:off x="347472" y="5724144"/>
            <a:ext cx="2788920" cy="676656"/>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47472" y="5724144"/>
            <a:ext cx="82296" cy="676656"/>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 y="5769864"/>
            <a:ext cx="2487168" cy="182880"/>
          </a:xfrm>
          <a:prstGeom prst="rect">
            <a:avLst/>
          </a:prstGeom>
          <a:noFill/>
        </p:spPr>
        <p:txBody>
          <a:bodyPr wrap="square">
            <a:spAutoFit/>
          </a:bodyPr>
          <a:lstStyle/>
          <a:p>
            <a:pPr algn="l"/>
            <a:r>
              <a:rPr sz="1100" b="1">
                <a:solidFill>
                  <a:srgbClr val="3D4A55"/>
                </a:solidFill>
                <a:latin typeface="Calibri"/>
              </a:rPr>
              <a:t>SAMYANG</a:t>
            </a:r>
          </a:p>
        </p:txBody>
      </p:sp>
      <p:sp>
        <p:nvSpPr>
          <p:cNvPr id="49" name="TextBox 48"/>
          <p:cNvSpPr txBox="1"/>
          <p:nvPr/>
        </p:nvSpPr>
        <p:spPr>
          <a:xfrm>
            <a:off x="530352" y="5943600"/>
            <a:ext cx="2487168" cy="237744"/>
          </a:xfrm>
          <a:prstGeom prst="rect">
            <a:avLst/>
          </a:prstGeom>
          <a:noFill/>
        </p:spPr>
        <p:txBody>
          <a:bodyPr wrap="square">
            <a:spAutoFit/>
          </a:bodyPr>
          <a:lstStyle/>
          <a:p>
            <a:pPr algn="l"/>
            <a:r>
              <a:rPr sz="2000" b="1">
                <a:solidFill>
                  <a:srgbClr val="122A4A"/>
                </a:solidFill>
                <a:latin typeface="Calibri"/>
              </a:rPr>
              <a:t>R39.24</a:t>
            </a:r>
          </a:p>
        </p:txBody>
      </p:sp>
      <p:sp>
        <p:nvSpPr>
          <p:cNvPr id="50" name="TextBox 49"/>
          <p:cNvSpPr txBox="1"/>
          <p:nvPr/>
        </p:nvSpPr>
        <p:spPr>
          <a:xfrm>
            <a:off x="530352" y="6181344"/>
            <a:ext cx="2487168" cy="182880"/>
          </a:xfrm>
          <a:prstGeom prst="rect">
            <a:avLst/>
          </a:prstGeom>
          <a:noFill/>
        </p:spPr>
        <p:txBody>
          <a:bodyPr wrap="square">
            <a:spAutoFit/>
          </a:bodyPr>
          <a:lstStyle/>
          <a:p>
            <a:pPr algn="l"/>
            <a:r>
              <a:rPr sz="1200" b="0">
                <a:solidFill>
                  <a:srgbClr val="111111"/>
                </a:solidFill>
                <a:latin typeface="Calibri"/>
              </a:rPr>
              <a:t>Ramen / cup</a:t>
            </a:r>
          </a:p>
        </p:txBody>
      </p:sp>
      <p:sp>
        <p:nvSpPr>
          <p:cNvPr id="51" name="Rectangle 50"/>
          <p:cNvSpPr/>
          <p:nvPr/>
        </p:nvSpPr>
        <p:spPr>
          <a:xfrm>
            <a:off x="3273552" y="5724144"/>
            <a:ext cx="2788920" cy="676656"/>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73552" y="5724144"/>
            <a:ext cx="82296" cy="676656"/>
          </a:xfrm>
          <a:prstGeom prst="rect">
            <a:avLst/>
          </a:prstGeom>
          <a:solidFill>
            <a:srgbClr val="D0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56432" y="5769864"/>
            <a:ext cx="2487168" cy="182880"/>
          </a:xfrm>
          <a:prstGeom prst="rect">
            <a:avLst/>
          </a:prstGeom>
          <a:noFill/>
        </p:spPr>
        <p:txBody>
          <a:bodyPr wrap="square">
            <a:spAutoFit/>
          </a:bodyPr>
          <a:lstStyle/>
          <a:p>
            <a:pPr algn="l"/>
            <a:r>
              <a:rPr sz="1100" b="1">
                <a:solidFill>
                  <a:srgbClr val="3D4A55"/>
                </a:solidFill>
                <a:latin typeface="Calibri"/>
              </a:rPr>
              <a:t>KNORR</a:t>
            </a:r>
          </a:p>
        </p:txBody>
      </p:sp>
      <p:sp>
        <p:nvSpPr>
          <p:cNvPr id="54" name="TextBox 53"/>
          <p:cNvSpPr txBox="1"/>
          <p:nvPr/>
        </p:nvSpPr>
        <p:spPr>
          <a:xfrm>
            <a:off x="3456432" y="5943600"/>
            <a:ext cx="2487168" cy="237744"/>
          </a:xfrm>
          <a:prstGeom prst="rect">
            <a:avLst/>
          </a:prstGeom>
          <a:noFill/>
        </p:spPr>
        <p:txBody>
          <a:bodyPr wrap="square">
            <a:spAutoFit/>
          </a:bodyPr>
          <a:lstStyle/>
          <a:p>
            <a:pPr algn="l"/>
            <a:r>
              <a:rPr sz="2000" b="1">
                <a:solidFill>
                  <a:srgbClr val="122A4A"/>
                </a:solidFill>
                <a:latin typeface="Calibri"/>
              </a:rPr>
              <a:t>R49.11</a:t>
            </a:r>
          </a:p>
        </p:txBody>
      </p:sp>
      <p:sp>
        <p:nvSpPr>
          <p:cNvPr id="55" name="TextBox 54"/>
          <p:cNvSpPr txBox="1"/>
          <p:nvPr/>
        </p:nvSpPr>
        <p:spPr>
          <a:xfrm>
            <a:off x="3456432" y="6181344"/>
            <a:ext cx="2487168" cy="182880"/>
          </a:xfrm>
          <a:prstGeom prst="rect">
            <a:avLst/>
          </a:prstGeom>
          <a:noFill/>
        </p:spPr>
        <p:txBody>
          <a:bodyPr wrap="square">
            <a:spAutoFit/>
          </a:bodyPr>
          <a:lstStyle/>
          <a:p>
            <a:pPr algn="l"/>
            <a:r>
              <a:rPr sz="1200" b="0">
                <a:solidFill>
                  <a:srgbClr val="111111"/>
                </a:solidFill>
                <a:latin typeface="Calibri"/>
              </a:rPr>
              <a:t>Pasta Pots  ·  ~8× sachet</a:t>
            </a:r>
          </a:p>
        </p:txBody>
      </p:sp>
      <p:sp>
        <p:nvSpPr>
          <p:cNvPr id="56" name="TextBox 55"/>
          <p:cNvSpPr txBox="1"/>
          <p:nvPr/>
        </p:nvSpPr>
        <p:spPr>
          <a:xfrm>
            <a:off x="6217920" y="4572000"/>
            <a:ext cx="5577840" cy="292608"/>
          </a:xfrm>
          <a:prstGeom prst="rect">
            <a:avLst/>
          </a:prstGeom>
          <a:noFill/>
        </p:spPr>
        <p:txBody>
          <a:bodyPr wrap="square">
            <a:spAutoFit/>
          </a:bodyPr>
          <a:lstStyle/>
          <a:p>
            <a:pPr algn="l"/>
            <a:r>
              <a:rPr sz="1600" b="1">
                <a:solidFill>
                  <a:srgbClr val="122A4A"/>
                </a:solidFill>
                <a:latin typeface="Calibri"/>
              </a:rPr>
              <a:t>Unilever SKUs — June 2026 only</a:t>
            </a:r>
          </a:p>
        </p:txBody>
      </p:sp>
      <p:graphicFrame>
        <p:nvGraphicFramePr>
          <p:cNvPr id="57" name="Table 56"/>
          <p:cNvGraphicFramePr>
            <a:graphicFrameLocks noGrp="1"/>
          </p:cNvGraphicFramePr>
          <p:nvPr/>
        </p:nvGraphicFramePr>
        <p:xfrm>
          <a:off x="6217920" y="5047488"/>
          <a:ext cx="5623560" cy="1417320"/>
        </p:xfrm>
        <a:graphic>
          <a:graphicData uri="http://schemas.openxmlformats.org/drawingml/2006/table">
            <a:tbl>
              <a:tblPr firstRow="1" bandRow="1">
                <a:tableStyleId>{5C22544A-7EE6-4342-B048-85BDC9FD1C3A}</a:tableStyleId>
              </a:tblPr>
              <a:tblGrid>
                <a:gridCol w="2194560"/>
                <a:gridCol w="1097280"/>
                <a:gridCol w="1051560"/>
                <a:gridCol w="1280160"/>
              </a:tblGrid>
              <a:tr h="354330">
                <a:tc>
                  <a:txBody>
                    <a:bodyPr/>
                    <a:lstStyle/>
                    <a:p>
                      <a:pPr algn="l"/>
                      <a:r>
                        <a:rPr sz="1300" b="1">
                          <a:solidFill>
                            <a:srgbClr val="FFFFFF"/>
                          </a:solidFill>
                          <a:latin typeface="Calibri"/>
                        </a:rPr>
                        <a:t>SKU</a:t>
                      </a:r>
                    </a:p>
                  </a:txBody>
                  <a:tcPr>
                    <a:solidFill>
                      <a:srgbClr val="122A4A"/>
                    </a:solidFill>
                  </a:tcPr>
                </a:tc>
                <a:tc>
                  <a:txBody>
                    <a:bodyPr/>
                    <a:lstStyle/>
                    <a:p>
                      <a:pPr algn="r"/>
                      <a:r>
                        <a:rPr sz="1300" b="1">
                          <a:solidFill>
                            <a:srgbClr val="FFFFFF"/>
                          </a:solidFill>
                          <a:latin typeface="Calibri"/>
                        </a:rPr>
                        <a:t>Value</a:t>
                      </a:r>
                    </a:p>
                  </a:txBody>
                  <a:tcPr>
                    <a:solidFill>
                      <a:srgbClr val="122A4A"/>
                    </a:solidFill>
                  </a:tcPr>
                </a:tc>
                <a:tc>
                  <a:txBody>
                    <a:bodyPr/>
                    <a:lstStyle/>
                    <a:p>
                      <a:pPr algn="r"/>
                      <a:r>
                        <a:rPr sz="1300" b="1">
                          <a:solidFill>
                            <a:srgbClr val="FFFFFF"/>
                          </a:solidFill>
                          <a:latin typeface="Calibri"/>
                        </a:rPr>
                        <a:t>Mix</a:t>
                      </a:r>
                    </a:p>
                  </a:txBody>
                  <a:tcPr>
                    <a:solidFill>
                      <a:srgbClr val="122A4A"/>
                    </a:solidFill>
                  </a:tcPr>
                </a:tc>
                <a:tc>
                  <a:txBody>
                    <a:bodyPr/>
                    <a:lstStyle/>
                    <a:p>
                      <a:pPr algn="r"/>
                      <a:r>
                        <a:rPr sz="1300" b="1">
                          <a:solidFill>
                            <a:srgbClr val="FFFFFF"/>
                          </a:solidFill>
                          <a:latin typeface="Calibri"/>
                        </a:rPr>
                        <a:t>R/pot</a:t>
                      </a:r>
                    </a:p>
                  </a:txBody>
                  <a:tcPr>
                    <a:solidFill>
                      <a:srgbClr val="122A4A"/>
                    </a:solidFill>
                  </a:tcPr>
                </a:tc>
              </a:tr>
              <a:tr h="354330">
                <a:tc>
                  <a:txBody>
                    <a:bodyPr/>
                    <a:lstStyle/>
                    <a:p>
                      <a:pPr algn="l"/>
                      <a:r>
                        <a:rPr sz="1300" b="1">
                          <a:solidFill>
                            <a:srgbClr val="111111"/>
                          </a:solidFill>
                          <a:latin typeface="Calibri"/>
                        </a:rPr>
                        <a:t>Carbonara</a:t>
                      </a:r>
                    </a:p>
                  </a:txBody>
                  <a:tcPr>
                    <a:solidFill>
                      <a:srgbClr val="EEF2F6"/>
                    </a:solidFill>
                  </a:tcPr>
                </a:tc>
                <a:tc>
                  <a:txBody>
                    <a:bodyPr/>
                    <a:lstStyle/>
                    <a:p>
                      <a:pPr algn="r"/>
                      <a:r>
                        <a:rPr sz="1300" b="0">
                          <a:solidFill>
                            <a:srgbClr val="111111"/>
                          </a:solidFill>
                          <a:latin typeface="Calibri"/>
                        </a:rPr>
                        <a:t>R603k</a:t>
                      </a:r>
                    </a:p>
                  </a:txBody>
                  <a:tcPr>
                    <a:solidFill>
                      <a:srgbClr val="EEF2F6"/>
                    </a:solidFill>
                  </a:tcPr>
                </a:tc>
                <a:tc>
                  <a:txBody>
                    <a:bodyPr/>
                    <a:lstStyle/>
                    <a:p>
                      <a:pPr algn="r"/>
                      <a:r>
                        <a:rPr sz="1300" b="0">
                          <a:solidFill>
                            <a:srgbClr val="111111"/>
                          </a:solidFill>
                          <a:latin typeface="Calibri"/>
                        </a:rPr>
                        <a:t>49%</a:t>
                      </a:r>
                    </a:p>
                  </a:txBody>
                  <a:tcPr>
                    <a:solidFill>
                      <a:srgbClr val="EEF2F6"/>
                    </a:solidFill>
                  </a:tcPr>
                </a:tc>
                <a:tc>
                  <a:txBody>
                    <a:bodyPr/>
                    <a:lstStyle/>
                    <a:p>
                      <a:pPr algn="r"/>
                      <a:r>
                        <a:rPr sz="1300" b="0">
                          <a:solidFill>
                            <a:srgbClr val="111111"/>
                          </a:solidFill>
                          <a:latin typeface="Calibri"/>
                        </a:rPr>
                        <a:t>R49.05</a:t>
                      </a:r>
                    </a:p>
                  </a:txBody>
                  <a:tcPr>
                    <a:solidFill>
                      <a:srgbClr val="EEF2F6"/>
                    </a:solidFill>
                  </a:tcPr>
                </a:tc>
              </a:tr>
              <a:tr h="354330">
                <a:tc>
                  <a:txBody>
                    <a:bodyPr/>
                    <a:lstStyle/>
                    <a:p>
                      <a:pPr algn="l"/>
                      <a:r>
                        <a:rPr sz="1300" b="1">
                          <a:solidFill>
                            <a:srgbClr val="111111"/>
                          </a:solidFill>
                          <a:latin typeface="Calibri"/>
                        </a:rPr>
                        <a:t>Tomato &amp; Mozzarella</a:t>
                      </a:r>
                    </a:p>
                  </a:txBody>
                  <a:tcPr>
                    <a:solidFill>
                      <a:srgbClr val="FFFFFF"/>
                    </a:solidFill>
                  </a:tcPr>
                </a:tc>
                <a:tc>
                  <a:txBody>
                    <a:bodyPr/>
                    <a:lstStyle/>
                    <a:p>
                      <a:pPr algn="r"/>
                      <a:r>
                        <a:rPr sz="1300" b="0">
                          <a:solidFill>
                            <a:srgbClr val="111111"/>
                          </a:solidFill>
                          <a:latin typeface="Calibri"/>
                        </a:rPr>
                        <a:t>R368k</a:t>
                      </a:r>
                    </a:p>
                  </a:txBody>
                  <a:tcPr>
                    <a:solidFill>
                      <a:srgbClr val="FFFFFF"/>
                    </a:solidFill>
                  </a:tcPr>
                </a:tc>
                <a:tc>
                  <a:txBody>
                    <a:bodyPr/>
                    <a:lstStyle/>
                    <a:p>
                      <a:pPr algn="r"/>
                      <a:r>
                        <a:rPr sz="1300" b="0">
                          <a:solidFill>
                            <a:srgbClr val="111111"/>
                          </a:solidFill>
                          <a:latin typeface="Calibri"/>
                        </a:rPr>
                        <a:t>30%</a:t>
                      </a:r>
                    </a:p>
                  </a:txBody>
                  <a:tcPr>
                    <a:solidFill>
                      <a:srgbClr val="FFFFFF"/>
                    </a:solidFill>
                  </a:tcPr>
                </a:tc>
                <a:tc>
                  <a:txBody>
                    <a:bodyPr/>
                    <a:lstStyle/>
                    <a:p>
                      <a:pPr algn="r"/>
                      <a:r>
                        <a:rPr sz="1300" b="0">
                          <a:solidFill>
                            <a:srgbClr val="111111"/>
                          </a:solidFill>
                          <a:latin typeface="Calibri"/>
                        </a:rPr>
                        <a:t>R49.22</a:t>
                      </a:r>
                    </a:p>
                  </a:txBody>
                  <a:tcPr>
                    <a:solidFill>
                      <a:srgbClr val="FFFFFF"/>
                    </a:solidFill>
                  </a:tcPr>
                </a:tc>
              </a:tr>
              <a:tr h="354330">
                <a:tc>
                  <a:txBody>
                    <a:bodyPr/>
                    <a:lstStyle/>
                    <a:p>
                      <a:pPr algn="l"/>
                      <a:r>
                        <a:rPr sz="1300" b="1">
                          <a:solidFill>
                            <a:srgbClr val="111111"/>
                          </a:solidFill>
                          <a:latin typeface="Calibri"/>
                        </a:rPr>
                        <a:t>Mushroom</a:t>
                      </a:r>
                    </a:p>
                  </a:txBody>
                  <a:tcPr>
                    <a:solidFill>
                      <a:srgbClr val="EEF2F6"/>
                    </a:solidFill>
                  </a:tcPr>
                </a:tc>
                <a:tc>
                  <a:txBody>
                    <a:bodyPr/>
                    <a:lstStyle/>
                    <a:p>
                      <a:pPr algn="r"/>
                      <a:r>
                        <a:rPr sz="1300" b="0">
                          <a:solidFill>
                            <a:srgbClr val="111111"/>
                          </a:solidFill>
                          <a:latin typeface="Calibri"/>
                        </a:rPr>
                        <a:t>R269k</a:t>
                      </a:r>
                    </a:p>
                  </a:txBody>
                  <a:tcPr>
                    <a:solidFill>
                      <a:srgbClr val="EEF2F6"/>
                    </a:solidFill>
                  </a:tcPr>
                </a:tc>
                <a:tc>
                  <a:txBody>
                    <a:bodyPr/>
                    <a:lstStyle/>
                    <a:p>
                      <a:pPr algn="r"/>
                      <a:r>
                        <a:rPr sz="1300" b="0">
                          <a:solidFill>
                            <a:srgbClr val="111111"/>
                          </a:solidFill>
                          <a:latin typeface="Calibri"/>
                        </a:rPr>
                        <a:t>22%</a:t>
                      </a:r>
                    </a:p>
                  </a:txBody>
                  <a:tcPr>
                    <a:solidFill>
                      <a:srgbClr val="EEF2F6"/>
                    </a:solidFill>
                  </a:tcPr>
                </a:tc>
                <a:tc>
                  <a:txBody>
                    <a:bodyPr/>
                    <a:lstStyle/>
                    <a:p>
                      <a:pPr algn="r"/>
                      <a:r>
                        <a:rPr sz="1300" b="0">
                          <a:solidFill>
                            <a:srgbClr val="111111"/>
                          </a:solidFill>
                          <a:latin typeface="Calibri"/>
                        </a:rPr>
                        <a:t>R49.08</a:t>
                      </a:r>
                    </a:p>
                  </a:txBody>
                  <a:tcPr>
                    <a:solidFill>
                      <a:srgbClr val="EEF2F6"/>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164592"/>
            <a:ext cx="9509760" cy="420624"/>
          </a:xfrm>
          <a:prstGeom prst="rect">
            <a:avLst/>
          </a:prstGeom>
          <a:noFill/>
        </p:spPr>
        <p:txBody>
          <a:bodyPr wrap="square">
            <a:spAutoFit/>
          </a:bodyPr>
          <a:lstStyle/>
          <a:p>
            <a:pPr algn="l"/>
            <a:r>
              <a:rPr sz="2400" b="1">
                <a:solidFill>
                  <a:srgbClr val="122A4A"/>
                </a:solidFill>
                <a:latin typeface="Calibri"/>
              </a:rPr>
              <a:t>So what: Unilever is not in the sachet game</a:t>
            </a:r>
          </a:p>
        </p:txBody>
      </p:sp>
      <p:sp>
        <p:nvSpPr>
          <p:cNvPr id="6" name="Rectangle 5"/>
          <p:cNvSpPr/>
          <p:nvPr/>
        </p:nvSpPr>
        <p:spPr>
          <a:xfrm>
            <a:off x="347472" y="603504"/>
            <a:ext cx="2011680" cy="54864"/>
          </a:xfrm>
          <a:prstGeom prst="rect">
            <a:avLst/>
          </a:prstGeom>
          <a:solidFill>
            <a:srgbClr val="D0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mollan_logo_content.png"/>
          <p:cNvPicPr>
            <a:picLocks noChangeAspect="1"/>
          </p:cNvPicPr>
          <p:nvPr/>
        </p:nvPicPr>
        <p:blipFill>
          <a:blip r:embed="rId2"/>
          <a:stretch>
            <a:fillRect/>
          </a:stretch>
        </p:blipFill>
        <p:spPr>
          <a:xfrm>
            <a:off x="10104120" y="128016"/>
            <a:ext cx="1783080" cy="384048"/>
          </a:xfrm>
          <a:prstGeom prst="rect">
            <a:avLst/>
          </a:prstGeom>
        </p:spPr>
      </p:pic>
      <p:sp>
        <p:nvSpPr>
          <p:cNvPr id="8" name="Rectangle 7"/>
          <p:cNvSpPr/>
          <p:nvPr/>
        </p:nvSpPr>
        <p:spPr>
          <a:xfrm>
            <a:off x="0" y="6565392"/>
            <a:ext cx="12191695" cy="292608"/>
          </a:xfrm>
          <a:prstGeom prst="rect">
            <a:avLst/>
          </a:prstGeom>
          <a:solidFill>
            <a:srgbClr val="F3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6601968"/>
            <a:ext cx="8412480" cy="201168"/>
          </a:xfrm>
          <a:prstGeom prst="rect">
            <a:avLst/>
          </a:prstGeom>
          <a:noFill/>
        </p:spPr>
        <p:txBody>
          <a:bodyPr wrap="square">
            <a:spAutoFit/>
          </a:bodyPr>
          <a:lstStyle/>
          <a:p>
            <a:pPr algn="l"/>
            <a:r>
              <a:rPr sz="1100" b="0">
                <a:solidFill>
                  <a:srgbClr val="3D4A55"/>
                </a:solidFill>
                <a:latin typeface="Calibri"/>
              </a:rPr>
              <a:t>South Africa Pasta  ·  12 months Jul 25–Jun 26 vs YA  ·  latest month Jun 26  ·  price = value ÷ volume</a:t>
            </a:r>
          </a:p>
        </p:txBody>
      </p:sp>
      <p:sp>
        <p:nvSpPr>
          <p:cNvPr id="10" name="TextBox 9"/>
          <p:cNvSpPr txBox="1"/>
          <p:nvPr/>
        </p:nvSpPr>
        <p:spPr>
          <a:xfrm>
            <a:off x="10424160" y="6601968"/>
            <a:ext cx="1417320" cy="201168"/>
          </a:xfrm>
          <a:prstGeom prst="rect">
            <a:avLst/>
          </a:prstGeom>
          <a:noFill/>
        </p:spPr>
        <p:txBody>
          <a:bodyPr wrap="square">
            <a:spAutoFit/>
          </a:bodyPr>
          <a:lstStyle/>
          <a:p>
            <a:pPr algn="r"/>
            <a:r>
              <a:rPr sz="1100" b="1">
                <a:solidFill>
                  <a:srgbClr val="122A4A"/>
                </a:solidFill>
                <a:latin typeface="Calibri"/>
              </a:rPr>
              <a:t>4 / 5</a:t>
            </a:r>
          </a:p>
        </p:txBody>
      </p:sp>
      <p:sp>
        <p:nvSpPr>
          <p:cNvPr id="11" name="Rectangle 10"/>
          <p:cNvSpPr/>
          <p:nvPr/>
        </p:nvSpPr>
        <p:spPr>
          <a:xfrm>
            <a:off x="347472" y="841248"/>
            <a:ext cx="11475720" cy="1261872"/>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 y="841248"/>
            <a:ext cx="640080" cy="1261872"/>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207008"/>
            <a:ext cx="640080" cy="457200"/>
          </a:xfrm>
          <a:prstGeom prst="rect">
            <a:avLst/>
          </a:prstGeom>
          <a:noFill/>
        </p:spPr>
        <p:txBody>
          <a:bodyPr wrap="square">
            <a:spAutoFit/>
          </a:bodyPr>
          <a:lstStyle/>
          <a:p>
            <a:pPr algn="ctr"/>
            <a:r>
              <a:rPr sz="2400" b="1">
                <a:solidFill>
                  <a:srgbClr val="FFFFFF"/>
                </a:solidFill>
                <a:latin typeface="Calibri"/>
              </a:rPr>
              <a:t>1</a:t>
            </a:r>
          </a:p>
        </p:txBody>
      </p:sp>
      <p:sp>
        <p:nvSpPr>
          <p:cNvPr id="14" name="TextBox 13"/>
          <p:cNvSpPr txBox="1"/>
          <p:nvPr/>
        </p:nvSpPr>
        <p:spPr>
          <a:xfrm>
            <a:off x="1170432" y="950976"/>
            <a:ext cx="10424160" cy="329184"/>
          </a:xfrm>
          <a:prstGeom prst="rect">
            <a:avLst/>
          </a:prstGeom>
          <a:noFill/>
        </p:spPr>
        <p:txBody>
          <a:bodyPr wrap="square">
            <a:spAutoFit/>
          </a:bodyPr>
          <a:lstStyle/>
          <a:p>
            <a:pPr algn="l"/>
            <a:r>
              <a:rPr sz="1800" b="1">
                <a:solidFill>
                  <a:srgbClr val="122A4A"/>
                </a:solidFill>
                <a:latin typeface="Calibri"/>
              </a:rPr>
              <a:t>Noodles runs Pasta</a:t>
            </a:r>
          </a:p>
        </p:txBody>
      </p:sp>
      <p:sp>
        <p:nvSpPr>
          <p:cNvPr id="15" name="TextBox 14"/>
          <p:cNvSpPr txBox="1"/>
          <p:nvPr/>
        </p:nvSpPr>
        <p:spPr>
          <a:xfrm>
            <a:off x="1170432" y="1298448"/>
            <a:ext cx="10424160" cy="713232"/>
          </a:xfrm>
          <a:prstGeom prst="rect">
            <a:avLst/>
          </a:prstGeom>
          <a:noFill/>
        </p:spPr>
        <p:txBody>
          <a:bodyPr wrap="square">
            <a:spAutoFit/>
          </a:bodyPr>
          <a:lstStyle/>
          <a:p>
            <a:pPr algn="l"/>
            <a:r>
              <a:rPr sz="1500" b="0">
                <a:solidFill>
                  <a:srgbClr val="111111"/>
                </a:solidFill>
                <a:latin typeface="Calibri"/>
              </a:rPr>
              <a:t>Noodles is 64% of Pasta value and growing +8.2%. Dry pasta (Tiger, private label, Mr Pasta at ~R32–35/kg) is a different business. Unilever is absent there.</a:t>
            </a:r>
          </a:p>
        </p:txBody>
      </p:sp>
      <p:sp>
        <p:nvSpPr>
          <p:cNvPr id="16" name="Rectangle 15"/>
          <p:cNvSpPr/>
          <p:nvPr/>
        </p:nvSpPr>
        <p:spPr>
          <a:xfrm>
            <a:off x="347472" y="2212848"/>
            <a:ext cx="11475720" cy="1261872"/>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7472" y="2212848"/>
            <a:ext cx="640080" cy="1261872"/>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 y="2578608"/>
            <a:ext cx="640080" cy="457200"/>
          </a:xfrm>
          <a:prstGeom prst="rect">
            <a:avLst/>
          </a:prstGeom>
          <a:noFill/>
        </p:spPr>
        <p:txBody>
          <a:bodyPr wrap="square">
            <a:spAutoFit/>
          </a:bodyPr>
          <a:lstStyle/>
          <a:p>
            <a:pPr algn="ctr"/>
            <a:r>
              <a:rPr sz="2400" b="1">
                <a:solidFill>
                  <a:srgbClr val="FFFFFF"/>
                </a:solidFill>
                <a:latin typeface="Calibri"/>
              </a:rPr>
              <a:t>2</a:t>
            </a:r>
          </a:p>
        </p:txBody>
      </p:sp>
      <p:sp>
        <p:nvSpPr>
          <p:cNvPr id="19" name="TextBox 18"/>
          <p:cNvSpPr txBox="1"/>
          <p:nvPr/>
        </p:nvSpPr>
        <p:spPr>
          <a:xfrm>
            <a:off x="1170432" y="2322576"/>
            <a:ext cx="10424160" cy="329184"/>
          </a:xfrm>
          <a:prstGeom prst="rect">
            <a:avLst/>
          </a:prstGeom>
          <a:noFill/>
        </p:spPr>
        <p:txBody>
          <a:bodyPr wrap="square">
            <a:spAutoFit/>
          </a:bodyPr>
          <a:lstStyle/>
          <a:p>
            <a:pPr algn="l"/>
            <a:r>
              <a:rPr sz="1800" b="1">
                <a:solidFill>
                  <a:srgbClr val="122A4A"/>
                </a:solidFill>
                <a:latin typeface="Calibri"/>
              </a:rPr>
              <a:t>Kellogg's is winning, Maggi is losing</a:t>
            </a:r>
          </a:p>
        </p:txBody>
      </p:sp>
      <p:sp>
        <p:nvSpPr>
          <p:cNvPr id="20" name="TextBox 19"/>
          <p:cNvSpPr txBox="1"/>
          <p:nvPr/>
        </p:nvSpPr>
        <p:spPr>
          <a:xfrm>
            <a:off x="1170432" y="2670048"/>
            <a:ext cx="10424160" cy="713232"/>
          </a:xfrm>
          <a:prstGeom prst="rect">
            <a:avLst/>
          </a:prstGeom>
          <a:noFill/>
        </p:spPr>
        <p:txBody>
          <a:bodyPr wrap="square">
            <a:spAutoFit/>
          </a:bodyPr>
          <a:lstStyle/>
          <a:p>
            <a:pPr algn="l"/>
            <a:r>
              <a:rPr sz="1500" b="0">
                <a:solidFill>
                  <a:srgbClr val="111111"/>
                </a:solidFill>
                <a:latin typeface="Calibri"/>
              </a:rPr>
              <a:t>Kellogg's 46% of Noodles (+2.0pp). Maggi 29% (−5.1pp). Indomie and Samyang are the other gainers. That is the competitive frame, not Knorr vs Maggi on the same pack.</a:t>
            </a:r>
          </a:p>
        </p:txBody>
      </p:sp>
      <p:sp>
        <p:nvSpPr>
          <p:cNvPr id="21" name="Rectangle 20"/>
          <p:cNvSpPr/>
          <p:nvPr/>
        </p:nvSpPr>
        <p:spPr>
          <a:xfrm>
            <a:off x="347472" y="3584448"/>
            <a:ext cx="11475720" cy="1261872"/>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7472" y="3584448"/>
            <a:ext cx="640080" cy="1261872"/>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3950208"/>
            <a:ext cx="640080" cy="457200"/>
          </a:xfrm>
          <a:prstGeom prst="rect">
            <a:avLst/>
          </a:prstGeom>
          <a:noFill/>
        </p:spPr>
        <p:txBody>
          <a:bodyPr wrap="square">
            <a:spAutoFit/>
          </a:bodyPr>
          <a:lstStyle/>
          <a:p>
            <a:pPr algn="ctr"/>
            <a:r>
              <a:rPr sz="2400" b="1">
                <a:solidFill>
                  <a:srgbClr val="FFFFFF"/>
                </a:solidFill>
                <a:latin typeface="Calibri"/>
              </a:rPr>
              <a:t>3</a:t>
            </a:r>
          </a:p>
        </p:txBody>
      </p:sp>
      <p:sp>
        <p:nvSpPr>
          <p:cNvPr id="24" name="TextBox 23"/>
          <p:cNvSpPr txBox="1"/>
          <p:nvPr/>
        </p:nvSpPr>
        <p:spPr>
          <a:xfrm>
            <a:off x="1170432" y="3694176"/>
            <a:ext cx="10424160" cy="329184"/>
          </a:xfrm>
          <a:prstGeom prst="rect">
            <a:avLst/>
          </a:prstGeom>
          <a:noFill/>
        </p:spPr>
        <p:txBody>
          <a:bodyPr wrap="square">
            <a:spAutoFit/>
          </a:bodyPr>
          <a:lstStyle/>
          <a:p>
            <a:pPr algn="l"/>
            <a:r>
              <a:rPr sz="1800" b="1">
                <a:solidFill>
                  <a:srgbClr val="122A4A"/>
                </a:solidFill>
                <a:latin typeface="Calibri"/>
              </a:rPr>
              <a:t>The category price point is ~R6</a:t>
            </a:r>
          </a:p>
        </p:txBody>
      </p:sp>
      <p:sp>
        <p:nvSpPr>
          <p:cNvPr id="25" name="TextBox 24"/>
          <p:cNvSpPr txBox="1"/>
          <p:nvPr/>
        </p:nvSpPr>
        <p:spPr>
          <a:xfrm>
            <a:off x="1170432" y="4041648"/>
            <a:ext cx="10424160" cy="713232"/>
          </a:xfrm>
          <a:prstGeom prst="rect">
            <a:avLst/>
          </a:prstGeom>
          <a:noFill/>
        </p:spPr>
        <p:txBody>
          <a:bodyPr wrap="square">
            <a:spAutoFit/>
          </a:bodyPr>
          <a:lstStyle/>
          <a:p>
            <a:pPr algn="l"/>
            <a:r>
              <a:rPr sz="1500" b="0">
                <a:solidFill>
                  <a:srgbClr val="111111"/>
                </a:solidFill>
                <a:latin typeface="Calibri"/>
              </a:rPr>
              <a:t>86% of noodles value is a R5–8 sachet (Roka R5.88, Kellogg's R6.09, Maggi R6.79, Indomie R7.90). Samyang sits at ~R39 as a ramen/cup play.</a:t>
            </a:r>
          </a:p>
        </p:txBody>
      </p:sp>
      <p:sp>
        <p:nvSpPr>
          <p:cNvPr id="26" name="Rectangle 25"/>
          <p:cNvSpPr/>
          <p:nvPr/>
        </p:nvSpPr>
        <p:spPr>
          <a:xfrm>
            <a:off x="347472" y="4956048"/>
            <a:ext cx="11475720" cy="1261872"/>
          </a:xfrm>
          <a:prstGeom prst="rect">
            <a:avLst/>
          </a:prstGeom>
          <a:solidFill>
            <a:srgbClr val="F3F5F7"/>
          </a:solidFill>
          <a:ln w="12700">
            <a:solidFill>
              <a:srgbClr val="C8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 y="4956048"/>
            <a:ext cx="640080" cy="1261872"/>
          </a:xfrm>
          <a:prstGeom prst="rect">
            <a:avLst/>
          </a:prstGeom>
          <a:solidFill>
            <a:srgbClr val="12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5321808"/>
            <a:ext cx="640080" cy="457200"/>
          </a:xfrm>
          <a:prstGeom prst="rect">
            <a:avLst/>
          </a:prstGeom>
          <a:noFill/>
        </p:spPr>
        <p:txBody>
          <a:bodyPr wrap="square">
            <a:spAutoFit/>
          </a:bodyPr>
          <a:lstStyle/>
          <a:p>
            <a:pPr algn="ctr"/>
            <a:r>
              <a:rPr sz="2400" b="1">
                <a:solidFill>
                  <a:srgbClr val="FFFFFF"/>
                </a:solidFill>
                <a:latin typeface="Calibri"/>
              </a:rPr>
              <a:t>4</a:t>
            </a:r>
          </a:p>
        </p:txBody>
      </p:sp>
      <p:sp>
        <p:nvSpPr>
          <p:cNvPr id="29" name="TextBox 28"/>
          <p:cNvSpPr txBox="1"/>
          <p:nvPr/>
        </p:nvSpPr>
        <p:spPr>
          <a:xfrm>
            <a:off x="1170432" y="5065776"/>
            <a:ext cx="10424160" cy="329184"/>
          </a:xfrm>
          <a:prstGeom prst="rect">
            <a:avLst/>
          </a:prstGeom>
          <a:noFill/>
        </p:spPr>
        <p:txBody>
          <a:bodyPr wrap="square">
            <a:spAutoFit/>
          </a:bodyPr>
          <a:lstStyle/>
          <a:p>
            <a:pPr algn="l"/>
            <a:r>
              <a:rPr sz="1800" b="1">
                <a:solidFill>
                  <a:srgbClr val="122A4A"/>
                </a:solidFill>
                <a:latin typeface="Calibri"/>
              </a:rPr>
              <a:t>Pasta Pots are a different occasion</a:t>
            </a:r>
          </a:p>
        </p:txBody>
      </p:sp>
      <p:sp>
        <p:nvSpPr>
          <p:cNvPr id="30" name="TextBox 29"/>
          <p:cNvSpPr txBox="1"/>
          <p:nvPr/>
        </p:nvSpPr>
        <p:spPr>
          <a:xfrm>
            <a:off x="1170432" y="5413248"/>
            <a:ext cx="10424160" cy="713232"/>
          </a:xfrm>
          <a:prstGeom prst="rect">
            <a:avLst/>
          </a:prstGeom>
          <a:noFill/>
        </p:spPr>
        <p:txBody>
          <a:bodyPr wrap="square">
            <a:spAutoFit/>
          </a:bodyPr>
          <a:lstStyle/>
          <a:p>
            <a:pPr algn="l"/>
            <a:r>
              <a:rPr sz="1500" b="0">
                <a:solidFill>
                  <a:srgbClr val="111111"/>
                </a:solidFill>
                <a:latin typeface="Calibri"/>
              </a:rPr>
              <a:t>Knorr Pasta Pots appear only in June: R1.24m, 0.56% of Noodles, ~R49 a pot / ~R790/kg — about 8× the mass sachet. Carbonara is 49% of the line. The three SKUs compete with each other first. Hold R49; do not promo into the R6 band.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hanks_bg.png"/>
          <p:cNvPicPr>
            <a:picLocks noChangeAspect="1"/>
          </p:cNvPicPr>
          <p:nvPr/>
        </p:nvPicPr>
        <p:blipFill>
          <a:blip r:embed="rId2"/>
          <a:stretch>
            <a:fillRect/>
          </a:stretch>
        </p:blipFill>
        <p:spPr>
          <a:xfrm>
            <a:off x="0" y="0"/>
            <a:ext cx="12191695" cy="6858000"/>
          </a:xfrm>
          <a:prstGeom prst="rect">
            <a:avLst/>
          </a:prstGeom>
        </p:spPr>
      </p:pic>
      <p:pic>
        <p:nvPicPr>
          <p:cNvPr id="3" name="Picture 2" descr="logo_white.png"/>
          <p:cNvPicPr>
            <a:picLocks noChangeAspect="1"/>
          </p:cNvPicPr>
          <p:nvPr/>
        </p:nvPicPr>
        <p:blipFill>
          <a:blip r:embed="rId3"/>
          <a:stretch>
            <a:fillRect/>
          </a:stretch>
        </p:blipFill>
        <p:spPr>
          <a:xfrm>
            <a:off x="347472" y="256032"/>
            <a:ext cx="1874519" cy="566928"/>
          </a:xfrm>
          <a:prstGeom prst="rect">
            <a:avLst/>
          </a:prstGeom>
        </p:spPr>
      </p:pic>
      <p:sp>
        <p:nvSpPr>
          <p:cNvPr id="4" name="TextBox 3"/>
          <p:cNvSpPr txBox="1"/>
          <p:nvPr/>
        </p:nvSpPr>
        <p:spPr>
          <a:xfrm>
            <a:off x="6537960" y="2560320"/>
            <a:ext cx="5120640" cy="640080"/>
          </a:xfrm>
          <a:prstGeom prst="rect">
            <a:avLst/>
          </a:prstGeom>
          <a:noFill/>
        </p:spPr>
        <p:txBody>
          <a:bodyPr wrap="square">
            <a:spAutoFit/>
          </a:bodyPr>
          <a:lstStyle/>
          <a:p>
            <a:pPr algn="l"/>
            <a:r>
              <a:rPr sz="4000" b="1">
                <a:solidFill>
                  <a:srgbClr val="FFFFFF"/>
                </a:solidFill>
                <a:latin typeface="Calibri"/>
              </a:rPr>
              <a:t>Thank You!</a:t>
            </a:r>
          </a:p>
        </p:txBody>
      </p:sp>
      <p:sp>
        <p:nvSpPr>
          <p:cNvPr id="5" name="Rectangle 4"/>
          <p:cNvSpPr/>
          <p:nvPr/>
        </p:nvSpPr>
        <p:spPr>
          <a:xfrm>
            <a:off x="6537960" y="3246120"/>
            <a:ext cx="2560320" cy="32004"/>
          </a:xfrm>
          <a:prstGeom prst="rect">
            <a:avLst/>
          </a:prstGeom>
          <a:solidFill>
            <a:srgbClr val="7A9A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37960" y="3383280"/>
            <a:ext cx="5120640" cy="365760"/>
          </a:xfrm>
          <a:prstGeom prst="rect">
            <a:avLst/>
          </a:prstGeom>
          <a:noFill/>
        </p:spPr>
        <p:txBody>
          <a:bodyPr wrap="square">
            <a:spAutoFit/>
          </a:bodyPr>
          <a:lstStyle/>
          <a:p>
            <a:pPr algn="l"/>
            <a:r>
              <a:rPr sz="2000" b="1">
                <a:solidFill>
                  <a:srgbClr val="88C040"/>
                </a:solidFill>
                <a:latin typeface="Calibri"/>
              </a:rPr>
              <a:t>Joseph Hlongwane</a:t>
            </a:r>
          </a:p>
        </p:txBody>
      </p:sp>
      <p:sp>
        <p:nvSpPr>
          <p:cNvPr id="7" name="TextBox 6"/>
          <p:cNvSpPr txBox="1"/>
          <p:nvPr/>
        </p:nvSpPr>
        <p:spPr>
          <a:xfrm>
            <a:off x="365760" y="6492240"/>
            <a:ext cx="5029200" cy="219456"/>
          </a:xfrm>
          <a:prstGeom prst="rect">
            <a:avLst/>
          </a:prstGeom>
          <a:noFill/>
        </p:spPr>
        <p:txBody>
          <a:bodyPr wrap="square">
            <a:spAutoFit/>
          </a:bodyPr>
          <a:lstStyle/>
          <a:p>
            <a:pPr algn="l"/>
            <a:r>
              <a:rPr sz="1200" b="0">
                <a:solidFill>
                  <a:srgbClr val="FFFFFF"/>
                </a:solidFill>
                <a:latin typeface="Calibri"/>
              </a:rPr>
              <a:t>A SMOLLAN COMPANY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